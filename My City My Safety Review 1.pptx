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notesMasterIdLst>
    <p:notesMasterId r:id="rId21"/>
  </p:notesMasterIdLst>
  <p:sldIdLst>
    <p:sldId id="256" r:id="rId2"/>
    <p:sldId id="282" r:id="rId3"/>
    <p:sldId id="258" r:id="rId4"/>
    <p:sldId id="259" r:id="rId5"/>
    <p:sldId id="260" r:id="rId6"/>
    <p:sldId id="261" r:id="rId7"/>
    <p:sldId id="263" r:id="rId8"/>
    <p:sldId id="264" r:id="rId9"/>
    <p:sldId id="265" r:id="rId10"/>
    <p:sldId id="276" r:id="rId11"/>
    <p:sldId id="279" r:id="rId12"/>
    <p:sldId id="278" r:id="rId13"/>
    <p:sldId id="281" r:id="rId14"/>
    <p:sldId id="274" r:id="rId15"/>
    <p:sldId id="267" r:id="rId16"/>
    <p:sldId id="268" r:id="rId17"/>
    <p:sldId id="269" r:id="rId18"/>
    <p:sldId id="271" r:id="rId19"/>
    <p:sldId id="27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52" autoAdjust="0"/>
    <p:restoredTop sz="94660"/>
  </p:normalViewPr>
  <p:slideViewPr>
    <p:cSldViewPr snapToGrid="0">
      <p:cViewPr varScale="1">
        <p:scale>
          <a:sx n="115" d="100"/>
          <a:sy n="115" d="100"/>
        </p:scale>
        <p:origin x="420" y="13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A212DC-63B1-4901-BBA1-0E9BAC33D41C}" type="datetimeFigureOut">
              <a:rPr lang="en-IN" smtClean="0"/>
              <a:pPr/>
              <a:t>28-05-2025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AF3EA8-841E-473D-8AEC-E28FC8B0AF52}" type="slidenum">
              <a:rPr lang="en-IN" smtClean="0"/>
              <a:pPr/>
              <a:t>‹#›</a:t>
            </a:fld>
            <a:endParaRPr lang="en-IN"/>
          </a:p>
        </p:txBody>
      </p:sp>
    </p:spTree>
    <p:extLst>
      <p:ext uri="{BB962C8B-B14F-4D97-AF65-F5344CB8AC3E}">
        <p14:creationId xmlns:p14="http://schemas.microsoft.com/office/powerpoint/2010/main" val="431445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F3AFFB-09AA-ECD3-A501-AA1356AD3E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14B94F74-36C2-3B9C-B77E-49D93FEA6E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403B0920-939B-1427-A240-207927E83CA0}"/>
              </a:ext>
            </a:extLst>
          </p:cNvPr>
          <p:cNvSpPr>
            <a:spLocks noGrp="1"/>
          </p:cNvSpPr>
          <p:nvPr>
            <p:ph type="dt" sz="half" idx="10"/>
          </p:nvPr>
        </p:nvSpPr>
        <p:spPr/>
        <p:txBody>
          <a:bodyPr/>
          <a:lstStyle/>
          <a:p>
            <a:fld id="{49A2CFE5-A4B4-4B06-B20E-12268170437F}" type="datetime1">
              <a:rPr lang="en-IN" smtClean="0"/>
              <a:t>28-05-2025</a:t>
            </a:fld>
            <a:endParaRPr lang="en-IN"/>
          </a:p>
        </p:txBody>
      </p:sp>
      <p:sp>
        <p:nvSpPr>
          <p:cNvPr id="5" name="Footer Placeholder 4">
            <a:extLst>
              <a:ext uri="{FF2B5EF4-FFF2-40B4-BE49-F238E27FC236}">
                <a16:creationId xmlns:a16="http://schemas.microsoft.com/office/drawing/2014/main" xmlns="" id="{461633E4-4DE7-9CBD-B5E6-5AD884AE7A52}"/>
              </a:ext>
            </a:extLst>
          </p:cNvPr>
          <p:cNvSpPr>
            <a:spLocks noGrp="1"/>
          </p:cNvSpPr>
          <p:nvPr>
            <p:ph type="ftr" sz="quarter" idx="11"/>
          </p:nvPr>
        </p:nvSpPr>
        <p:spPr/>
        <p:txBody>
          <a:bodyPr/>
          <a:lstStyle/>
          <a:p>
            <a:r>
              <a:rPr lang="en-US"/>
              <a:t>Dept. of CSE (IoT&amp;CSBT), </a:t>
            </a:r>
            <a:endParaRPr lang="en-IN"/>
          </a:p>
        </p:txBody>
      </p:sp>
      <p:sp>
        <p:nvSpPr>
          <p:cNvPr id="6" name="Slide Number Placeholder 5">
            <a:extLst>
              <a:ext uri="{FF2B5EF4-FFF2-40B4-BE49-F238E27FC236}">
                <a16:creationId xmlns:a16="http://schemas.microsoft.com/office/drawing/2014/main" xmlns="" id="{7ED4D315-F632-D898-7F1C-C15F4F7B59F8}"/>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3243609909"/>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BEBFB7-8FDD-EF48-84E2-54F6E69D63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7340D445-05B4-5BEE-D35A-7128636EC3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27A864C7-ED9D-BBC6-5EBC-326AEF62ECCE}"/>
              </a:ext>
            </a:extLst>
          </p:cNvPr>
          <p:cNvSpPr>
            <a:spLocks noGrp="1"/>
          </p:cNvSpPr>
          <p:nvPr>
            <p:ph type="dt" sz="half" idx="10"/>
          </p:nvPr>
        </p:nvSpPr>
        <p:spPr/>
        <p:txBody>
          <a:bodyPr/>
          <a:lstStyle/>
          <a:p>
            <a:fld id="{4C34EF88-E7F7-4C1D-9472-D97948C26B41}" type="datetime1">
              <a:rPr lang="en-IN" smtClean="0"/>
              <a:t>28-05-2025</a:t>
            </a:fld>
            <a:endParaRPr lang="en-IN"/>
          </a:p>
        </p:txBody>
      </p:sp>
      <p:sp>
        <p:nvSpPr>
          <p:cNvPr id="5" name="Footer Placeholder 4">
            <a:extLst>
              <a:ext uri="{FF2B5EF4-FFF2-40B4-BE49-F238E27FC236}">
                <a16:creationId xmlns:a16="http://schemas.microsoft.com/office/drawing/2014/main" xmlns="" id="{3E33499E-1F54-7B0C-251D-2A6D7A285B63}"/>
              </a:ext>
            </a:extLst>
          </p:cNvPr>
          <p:cNvSpPr>
            <a:spLocks noGrp="1"/>
          </p:cNvSpPr>
          <p:nvPr>
            <p:ph type="ftr" sz="quarter" idx="11"/>
          </p:nvPr>
        </p:nvSpPr>
        <p:spPr/>
        <p:txBody>
          <a:bodyPr/>
          <a:lstStyle/>
          <a:p>
            <a:r>
              <a:rPr lang="en-US"/>
              <a:t>Dept. of CSE (IoT&amp;CSBT), </a:t>
            </a:r>
            <a:endParaRPr lang="en-IN"/>
          </a:p>
        </p:txBody>
      </p:sp>
      <p:sp>
        <p:nvSpPr>
          <p:cNvPr id="6" name="Slide Number Placeholder 5">
            <a:extLst>
              <a:ext uri="{FF2B5EF4-FFF2-40B4-BE49-F238E27FC236}">
                <a16:creationId xmlns:a16="http://schemas.microsoft.com/office/drawing/2014/main" xmlns="" id="{A9ADD0C8-487A-2C1B-5B4F-94082666D5C6}"/>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865925049"/>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7AD1399-8753-21DD-C29F-E9DC6D25F1A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4739B560-E8FC-7F61-1B6C-95AA3342D7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75E8700C-4CEF-BB29-8236-4E0668B49949}"/>
              </a:ext>
            </a:extLst>
          </p:cNvPr>
          <p:cNvSpPr>
            <a:spLocks noGrp="1"/>
          </p:cNvSpPr>
          <p:nvPr>
            <p:ph type="dt" sz="half" idx="10"/>
          </p:nvPr>
        </p:nvSpPr>
        <p:spPr/>
        <p:txBody>
          <a:bodyPr/>
          <a:lstStyle/>
          <a:p>
            <a:fld id="{0AFC1B3C-DE15-430F-BEB9-19ECF9D170D6}" type="datetime1">
              <a:rPr lang="en-IN" smtClean="0"/>
              <a:t>28-05-2025</a:t>
            </a:fld>
            <a:endParaRPr lang="en-IN"/>
          </a:p>
        </p:txBody>
      </p:sp>
      <p:sp>
        <p:nvSpPr>
          <p:cNvPr id="5" name="Footer Placeholder 4">
            <a:extLst>
              <a:ext uri="{FF2B5EF4-FFF2-40B4-BE49-F238E27FC236}">
                <a16:creationId xmlns:a16="http://schemas.microsoft.com/office/drawing/2014/main" xmlns="" id="{6DABD5B2-252A-0B05-5ECB-A4BBC4AD0EC9}"/>
              </a:ext>
            </a:extLst>
          </p:cNvPr>
          <p:cNvSpPr>
            <a:spLocks noGrp="1"/>
          </p:cNvSpPr>
          <p:nvPr>
            <p:ph type="ftr" sz="quarter" idx="11"/>
          </p:nvPr>
        </p:nvSpPr>
        <p:spPr/>
        <p:txBody>
          <a:bodyPr/>
          <a:lstStyle/>
          <a:p>
            <a:r>
              <a:rPr lang="en-US"/>
              <a:t>Dept. of CSE (IoT&amp;CSBT), </a:t>
            </a:r>
            <a:endParaRPr lang="en-IN"/>
          </a:p>
        </p:txBody>
      </p:sp>
      <p:sp>
        <p:nvSpPr>
          <p:cNvPr id="6" name="Slide Number Placeholder 5">
            <a:extLst>
              <a:ext uri="{FF2B5EF4-FFF2-40B4-BE49-F238E27FC236}">
                <a16:creationId xmlns:a16="http://schemas.microsoft.com/office/drawing/2014/main" xmlns="" id="{DBBF0E42-AAC0-6E47-E3D2-9570D6519670}"/>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725534260"/>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9C46E2A-90CB-035F-47A2-727CB37E51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DFDD7D4-4248-E9CA-CE2D-A00114A203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2683E95F-B3AD-C477-A70D-6564FB49CD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9E945AD9-D6B5-B466-6B0B-E81B6F966B3C}"/>
              </a:ext>
            </a:extLst>
          </p:cNvPr>
          <p:cNvSpPr>
            <a:spLocks noGrp="1"/>
          </p:cNvSpPr>
          <p:nvPr>
            <p:ph type="dt" sz="half" idx="10"/>
          </p:nvPr>
        </p:nvSpPr>
        <p:spPr/>
        <p:txBody>
          <a:bodyPr/>
          <a:lstStyle/>
          <a:p>
            <a:fld id="{D449D9E3-0E24-48F3-A40A-BD8093AFC106}" type="datetime1">
              <a:rPr lang="en-IN" smtClean="0"/>
              <a:t>28-05-2025</a:t>
            </a:fld>
            <a:endParaRPr lang="en-IN"/>
          </a:p>
        </p:txBody>
      </p:sp>
      <p:sp>
        <p:nvSpPr>
          <p:cNvPr id="6" name="Footer Placeholder 5">
            <a:extLst>
              <a:ext uri="{FF2B5EF4-FFF2-40B4-BE49-F238E27FC236}">
                <a16:creationId xmlns:a16="http://schemas.microsoft.com/office/drawing/2014/main" xmlns="" id="{797E1FA5-02ED-A1C7-20AF-EB235BBDEDC6}"/>
              </a:ext>
            </a:extLst>
          </p:cNvPr>
          <p:cNvSpPr>
            <a:spLocks noGrp="1"/>
          </p:cNvSpPr>
          <p:nvPr>
            <p:ph type="ftr" sz="quarter" idx="11"/>
          </p:nvPr>
        </p:nvSpPr>
        <p:spPr/>
        <p:txBody>
          <a:bodyPr/>
          <a:lstStyle/>
          <a:p>
            <a:r>
              <a:rPr lang="en-US"/>
              <a:t>Dept. of CSE (IoT&amp;CSBT), </a:t>
            </a:r>
            <a:endParaRPr lang="en-IN"/>
          </a:p>
        </p:txBody>
      </p:sp>
      <p:sp>
        <p:nvSpPr>
          <p:cNvPr id="7" name="Slide Number Placeholder 6">
            <a:extLst>
              <a:ext uri="{FF2B5EF4-FFF2-40B4-BE49-F238E27FC236}">
                <a16:creationId xmlns:a16="http://schemas.microsoft.com/office/drawing/2014/main" xmlns="" id="{D5AFF0A1-6ACA-D2EC-6461-8F2DF088468B}"/>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125188779"/>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201A12-0BDD-4097-342B-72304151AFF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34576EEE-0463-0252-328C-C5FDEC7CC9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3861AEAC-4C14-95DA-ACFD-330E0B0F82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F722C6DE-6C73-8FE2-3148-877C8BEB14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E9F73EC9-C9CD-6C5E-4FEF-90EAE76518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F78CD11F-8585-1A20-DBD2-BAC5086B9CA7}"/>
              </a:ext>
            </a:extLst>
          </p:cNvPr>
          <p:cNvSpPr>
            <a:spLocks noGrp="1"/>
          </p:cNvSpPr>
          <p:nvPr>
            <p:ph type="dt" sz="half" idx="10"/>
          </p:nvPr>
        </p:nvSpPr>
        <p:spPr/>
        <p:txBody>
          <a:bodyPr/>
          <a:lstStyle/>
          <a:p>
            <a:fld id="{C7162B92-0D69-475A-B991-698CF819A2A3}" type="datetime1">
              <a:rPr lang="en-IN" smtClean="0"/>
              <a:t>28-05-2025</a:t>
            </a:fld>
            <a:endParaRPr lang="en-IN"/>
          </a:p>
        </p:txBody>
      </p:sp>
      <p:sp>
        <p:nvSpPr>
          <p:cNvPr id="8" name="Footer Placeholder 7">
            <a:extLst>
              <a:ext uri="{FF2B5EF4-FFF2-40B4-BE49-F238E27FC236}">
                <a16:creationId xmlns:a16="http://schemas.microsoft.com/office/drawing/2014/main" xmlns="" id="{3689F3C3-94AC-0274-DB00-73E0618ED16B}"/>
              </a:ext>
            </a:extLst>
          </p:cNvPr>
          <p:cNvSpPr>
            <a:spLocks noGrp="1"/>
          </p:cNvSpPr>
          <p:nvPr>
            <p:ph type="ftr" sz="quarter" idx="11"/>
          </p:nvPr>
        </p:nvSpPr>
        <p:spPr/>
        <p:txBody>
          <a:bodyPr/>
          <a:lstStyle/>
          <a:p>
            <a:r>
              <a:rPr lang="en-US"/>
              <a:t>Dept. of CSE (IoT&amp;CSBT), </a:t>
            </a:r>
            <a:endParaRPr lang="en-IN"/>
          </a:p>
        </p:txBody>
      </p:sp>
      <p:sp>
        <p:nvSpPr>
          <p:cNvPr id="9" name="Slide Number Placeholder 8">
            <a:extLst>
              <a:ext uri="{FF2B5EF4-FFF2-40B4-BE49-F238E27FC236}">
                <a16:creationId xmlns:a16="http://schemas.microsoft.com/office/drawing/2014/main" xmlns="" id="{40EF9C71-90EC-3E63-E747-FA6209544C85}"/>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245181642"/>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79F857-8329-3D72-EB7A-9B8342110DF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A578D9FD-4991-4E37-677B-1E8122A92652}"/>
              </a:ext>
            </a:extLst>
          </p:cNvPr>
          <p:cNvSpPr>
            <a:spLocks noGrp="1"/>
          </p:cNvSpPr>
          <p:nvPr>
            <p:ph type="dt" sz="half" idx="10"/>
          </p:nvPr>
        </p:nvSpPr>
        <p:spPr/>
        <p:txBody>
          <a:bodyPr/>
          <a:lstStyle/>
          <a:p>
            <a:fld id="{1B094978-0BFE-48B0-A95D-11E8A5221525}" type="datetime1">
              <a:rPr lang="en-IN" smtClean="0"/>
              <a:t>28-05-2025</a:t>
            </a:fld>
            <a:endParaRPr lang="en-IN"/>
          </a:p>
        </p:txBody>
      </p:sp>
      <p:sp>
        <p:nvSpPr>
          <p:cNvPr id="4" name="Footer Placeholder 3">
            <a:extLst>
              <a:ext uri="{FF2B5EF4-FFF2-40B4-BE49-F238E27FC236}">
                <a16:creationId xmlns:a16="http://schemas.microsoft.com/office/drawing/2014/main" xmlns="" id="{303FF9A7-D50F-803C-846B-8A8BB4A31167}"/>
              </a:ext>
            </a:extLst>
          </p:cNvPr>
          <p:cNvSpPr>
            <a:spLocks noGrp="1"/>
          </p:cNvSpPr>
          <p:nvPr>
            <p:ph type="ftr" sz="quarter" idx="11"/>
          </p:nvPr>
        </p:nvSpPr>
        <p:spPr/>
        <p:txBody>
          <a:bodyPr/>
          <a:lstStyle/>
          <a:p>
            <a:r>
              <a:rPr lang="en-US"/>
              <a:t>Dept. of CSE (IoT&amp;CSBT), </a:t>
            </a:r>
            <a:endParaRPr lang="en-IN"/>
          </a:p>
        </p:txBody>
      </p:sp>
      <p:sp>
        <p:nvSpPr>
          <p:cNvPr id="5" name="Slide Number Placeholder 4">
            <a:extLst>
              <a:ext uri="{FF2B5EF4-FFF2-40B4-BE49-F238E27FC236}">
                <a16:creationId xmlns:a16="http://schemas.microsoft.com/office/drawing/2014/main" xmlns="" id="{8DB86C29-50AB-F786-1829-52270446879C}"/>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1688690473"/>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138DE1CB-D92F-889D-212E-FDD9DEFF689F}"/>
              </a:ext>
            </a:extLst>
          </p:cNvPr>
          <p:cNvSpPr>
            <a:spLocks noGrp="1"/>
          </p:cNvSpPr>
          <p:nvPr>
            <p:ph type="dt" sz="half" idx="10"/>
          </p:nvPr>
        </p:nvSpPr>
        <p:spPr/>
        <p:txBody>
          <a:bodyPr/>
          <a:lstStyle/>
          <a:p>
            <a:fld id="{41BF28CB-7578-4967-8F83-B937EE03F3A5}" type="datetime1">
              <a:rPr lang="en-IN" smtClean="0"/>
              <a:t>28-05-2025</a:t>
            </a:fld>
            <a:endParaRPr lang="en-IN"/>
          </a:p>
        </p:txBody>
      </p:sp>
      <p:sp>
        <p:nvSpPr>
          <p:cNvPr id="3" name="Footer Placeholder 2">
            <a:extLst>
              <a:ext uri="{FF2B5EF4-FFF2-40B4-BE49-F238E27FC236}">
                <a16:creationId xmlns:a16="http://schemas.microsoft.com/office/drawing/2014/main" xmlns="" id="{11273608-2975-50E9-2210-8E875DBEFEB2}"/>
              </a:ext>
            </a:extLst>
          </p:cNvPr>
          <p:cNvSpPr>
            <a:spLocks noGrp="1"/>
          </p:cNvSpPr>
          <p:nvPr>
            <p:ph type="ftr" sz="quarter" idx="11"/>
          </p:nvPr>
        </p:nvSpPr>
        <p:spPr/>
        <p:txBody>
          <a:bodyPr/>
          <a:lstStyle/>
          <a:p>
            <a:r>
              <a:rPr lang="en-US"/>
              <a:t>Dept. of CSE (IoT&amp;CSBT), </a:t>
            </a:r>
            <a:endParaRPr lang="en-IN"/>
          </a:p>
        </p:txBody>
      </p:sp>
      <p:sp>
        <p:nvSpPr>
          <p:cNvPr id="4" name="Slide Number Placeholder 3">
            <a:extLst>
              <a:ext uri="{FF2B5EF4-FFF2-40B4-BE49-F238E27FC236}">
                <a16:creationId xmlns:a16="http://schemas.microsoft.com/office/drawing/2014/main" xmlns="" id="{E77A1571-F53A-BD1C-8E2C-D675163E110F}"/>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697699851"/>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36F834-6156-38C6-E5D6-A042111EBF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9109A04B-01BC-8376-1A2A-77774729F8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DE31F0B5-9B42-9E24-774C-2AB3F8391A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4EF2AE68-23F8-91DC-CE44-85FD37CACAF5}"/>
              </a:ext>
            </a:extLst>
          </p:cNvPr>
          <p:cNvSpPr>
            <a:spLocks noGrp="1"/>
          </p:cNvSpPr>
          <p:nvPr>
            <p:ph type="dt" sz="half" idx="10"/>
          </p:nvPr>
        </p:nvSpPr>
        <p:spPr/>
        <p:txBody>
          <a:bodyPr/>
          <a:lstStyle/>
          <a:p>
            <a:fld id="{9B739B4C-5FCC-46B3-96CA-531A4CD31871}" type="datetime1">
              <a:rPr lang="en-IN" smtClean="0"/>
              <a:t>28-05-2025</a:t>
            </a:fld>
            <a:endParaRPr lang="en-IN"/>
          </a:p>
        </p:txBody>
      </p:sp>
      <p:sp>
        <p:nvSpPr>
          <p:cNvPr id="6" name="Footer Placeholder 5">
            <a:extLst>
              <a:ext uri="{FF2B5EF4-FFF2-40B4-BE49-F238E27FC236}">
                <a16:creationId xmlns:a16="http://schemas.microsoft.com/office/drawing/2014/main" xmlns="" id="{F438503E-FF8B-246F-D915-BE918357EE4F}"/>
              </a:ext>
            </a:extLst>
          </p:cNvPr>
          <p:cNvSpPr>
            <a:spLocks noGrp="1"/>
          </p:cNvSpPr>
          <p:nvPr>
            <p:ph type="ftr" sz="quarter" idx="11"/>
          </p:nvPr>
        </p:nvSpPr>
        <p:spPr/>
        <p:txBody>
          <a:bodyPr/>
          <a:lstStyle/>
          <a:p>
            <a:r>
              <a:rPr lang="en-US"/>
              <a:t>Dept. of CSE (IoT&amp;CSBT), </a:t>
            </a:r>
            <a:endParaRPr lang="en-IN"/>
          </a:p>
        </p:txBody>
      </p:sp>
      <p:sp>
        <p:nvSpPr>
          <p:cNvPr id="7" name="Slide Number Placeholder 6">
            <a:extLst>
              <a:ext uri="{FF2B5EF4-FFF2-40B4-BE49-F238E27FC236}">
                <a16:creationId xmlns:a16="http://schemas.microsoft.com/office/drawing/2014/main" xmlns="" id="{56662B4D-8E95-329B-E289-DC0EB7045DA7}"/>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4172118333"/>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90213F-36EB-1191-6A80-F66340C902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D2688CA4-8532-F407-5E97-A47711BCA0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F021C482-474B-762D-E101-130E05D3F7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A79C2A0D-5D5F-BA03-8590-D9ECFA4C4B21}"/>
              </a:ext>
            </a:extLst>
          </p:cNvPr>
          <p:cNvSpPr>
            <a:spLocks noGrp="1"/>
          </p:cNvSpPr>
          <p:nvPr>
            <p:ph type="dt" sz="half" idx="10"/>
          </p:nvPr>
        </p:nvSpPr>
        <p:spPr/>
        <p:txBody>
          <a:bodyPr/>
          <a:lstStyle/>
          <a:p>
            <a:fld id="{7C40E3F9-495A-4AE8-8B2B-032A507273CE}" type="datetime1">
              <a:rPr lang="en-IN" smtClean="0"/>
              <a:t>28-05-2025</a:t>
            </a:fld>
            <a:endParaRPr lang="en-IN"/>
          </a:p>
        </p:txBody>
      </p:sp>
      <p:sp>
        <p:nvSpPr>
          <p:cNvPr id="6" name="Footer Placeholder 5">
            <a:extLst>
              <a:ext uri="{FF2B5EF4-FFF2-40B4-BE49-F238E27FC236}">
                <a16:creationId xmlns:a16="http://schemas.microsoft.com/office/drawing/2014/main" xmlns="" id="{808704EC-5047-3C22-50B2-FE9408F91F23}"/>
              </a:ext>
            </a:extLst>
          </p:cNvPr>
          <p:cNvSpPr>
            <a:spLocks noGrp="1"/>
          </p:cNvSpPr>
          <p:nvPr>
            <p:ph type="ftr" sz="quarter" idx="11"/>
          </p:nvPr>
        </p:nvSpPr>
        <p:spPr/>
        <p:txBody>
          <a:bodyPr/>
          <a:lstStyle/>
          <a:p>
            <a:r>
              <a:rPr lang="en-US"/>
              <a:t>Dept. of CSE (IoT&amp;CSBT), </a:t>
            </a:r>
            <a:endParaRPr lang="en-IN"/>
          </a:p>
        </p:txBody>
      </p:sp>
      <p:sp>
        <p:nvSpPr>
          <p:cNvPr id="7" name="Slide Number Placeholder 6">
            <a:extLst>
              <a:ext uri="{FF2B5EF4-FFF2-40B4-BE49-F238E27FC236}">
                <a16:creationId xmlns:a16="http://schemas.microsoft.com/office/drawing/2014/main" xmlns="" id="{698CE17C-B325-7573-9CFC-337EAA74D4E4}"/>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1314913584"/>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522129A-44ED-9004-7814-CAD41E7EAF6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38619C7D-2A56-A57A-8B2A-C3C552E6AA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06516078-4BD3-048B-B1D5-41DACDF0E78B}"/>
              </a:ext>
            </a:extLst>
          </p:cNvPr>
          <p:cNvSpPr>
            <a:spLocks noGrp="1"/>
          </p:cNvSpPr>
          <p:nvPr>
            <p:ph type="dt" sz="half" idx="10"/>
          </p:nvPr>
        </p:nvSpPr>
        <p:spPr/>
        <p:txBody>
          <a:bodyPr/>
          <a:lstStyle/>
          <a:p>
            <a:fld id="{A19CBE5A-D23D-46E7-98A1-0FB56D045F19}" type="datetime1">
              <a:rPr lang="en-IN" smtClean="0"/>
              <a:t>28-05-2025</a:t>
            </a:fld>
            <a:endParaRPr lang="en-IN"/>
          </a:p>
        </p:txBody>
      </p:sp>
      <p:sp>
        <p:nvSpPr>
          <p:cNvPr id="5" name="Footer Placeholder 4">
            <a:extLst>
              <a:ext uri="{FF2B5EF4-FFF2-40B4-BE49-F238E27FC236}">
                <a16:creationId xmlns:a16="http://schemas.microsoft.com/office/drawing/2014/main" xmlns="" id="{E5155F8A-49CF-7663-8900-B400E368290B}"/>
              </a:ext>
            </a:extLst>
          </p:cNvPr>
          <p:cNvSpPr>
            <a:spLocks noGrp="1"/>
          </p:cNvSpPr>
          <p:nvPr>
            <p:ph type="ftr" sz="quarter" idx="11"/>
          </p:nvPr>
        </p:nvSpPr>
        <p:spPr/>
        <p:txBody>
          <a:bodyPr/>
          <a:lstStyle/>
          <a:p>
            <a:r>
              <a:rPr lang="en-US"/>
              <a:t>Dept. of CSE (IoT&amp;CSBT), </a:t>
            </a:r>
            <a:endParaRPr lang="en-IN"/>
          </a:p>
        </p:txBody>
      </p:sp>
      <p:sp>
        <p:nvSpPr>
          <p:cNvPr id="6" name="Slide Number Placeholder 5">
            <a:extLst>
              <a:ext uri="{FF2B5EF4-FFF2-40B4-BE49-F238E27FC236}">
                <a16:creationId xmlns:a16="http://schemas.microsoft.com/office/drawing/2014/main" xmlns="" id="{B36FBF03-AA48-22C6-82C0-6F3EB4C950CE}"/>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2036728516"/>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5AAA1800-94AC-140E-0AD0-CEB4517B2DF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55D806EF-5816-6940-F980-AB33BEB216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626A2D04-F527-3BE1-7EE9-BF602AD9D941}"/>
              </a:ext>
            </a:extLst>
          </p:cNvPr>
          <p:cNvSpPr>
            <a:spLocks noGrp="1"/>
          </p:cNvSpPr>
          <p:nvPr>
            <p:ph type="dt" sz="half" idx="10"/>
          </p:nvPr>
        </p:nvSpPr>
        <p:spPr/>
        <p:txBody>
          <a:bodyPr/>
          <a:lstStyle/>
          <a:p>
            <a:fld id="{AD1CA69F-C31F-412E-BE37-25E8444B29BE}" type="datetime1">
              <a:rPr lang="en-IN" smtClean="0"/>
              <a:t>28-05-2025</a:t>
            </a:fld>
            <a:endParaRPr lang="en-IN"/>
          </a:p>
        </p:txBody>
      </p:sp>
      <p:sp>
        <p:nvSpPr>
          <p:cNvPr id="5" name="Footer Placeholder 4">
            <a:extLst>
              <a:ext uri="{FF2B5EF4-FFF2-40B4-BE49-F238E27FC236}">
                <a16:creationId xmlns:a16="http://schemas.microsoft.com/office/drawing/2014/main" xmlns="" id="{B878C2CC-0772-5452-0FC1-C319259F5AFE}"/>
              </a:ext>
            </a:extLst>
          </p:cNvPr>
          <p:cNvSpPr>
            <a:spLocks noGrp="1"/>
          </p:cNvSpPr>
          <p:nvPr>
            <p:ph type="ftr" sz="quarter" idx="11"/>
          </p:nvPr>
        </p:nvSpPr>
        <p:spPr/>
        <p:txBody>
          <a:bodyPr/>
          <a:lstStyle/>
          <a:p>
            <a:r>
              <a:rPr lang="en-US"/>
              <a:t>Dept. of CSE (IoT&amp;CSBT), </a:t>
            </a:r>
            <a:endParaRPr lang="en-IN"/>
          </a:p>
        </p:txBody>
      </p:sp>
      <p:sp>
        <p:nvSpPr>
          <p:cNvPr id="6" name="Slide Number Placeholder 5">
            <a:extLst>
              <a:ext uri="{FF2B5EF4-FFF2-40B4-BE49-F238E27FC236}">
                <a16:creationId xmlns:a16="http://schemas.microsoft.com/office/drawing/2014/main" xmlns="" id="{2FFE7C7B-65B0-3FA2-AA89-C410A2E1A128}"/>
              </a:ext>
            </a:extLst>
          </p:cNvPr>
          <p:cNvSpPr>
            <a:spLocks noGrp="1"/>
          </p:cNvSpPr>
          <p:nvPr>
            <p:ph type="sldNum" sz="quarter" idx="12"/>
          </p:nvPr>
        </p:nvSpPr>
        <p:spPr/>
        <p:txBody>
          <a:bodyPr/>
          <a:lstStyle/>
          <a:p>
            <a:fld id="{249020A1-FA28-4834-83A8-C0CE35CB1668}" type="slidenum">
              <a:rPr lang="en-IN" smtClean="0"/>
              <a:pPr/>
              <a:t>‹#›</a:t>
            </a:fld>
            <a:endParaRPr lang="en-IN"/>
          </a:p>
        </p:txBody>
      </p:sp>
    </p:spTree>
    <p:extLst>
      <p:ext uri="{BB962C8B-B14F-4D97-AF65-F5344CB8AC3E}">
        <p14:creationId xmlns:p14="http://schemas.microsoft.com/office/powerpoint/2010/main" val="2361965528"/>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E7565FCD-1143-70C1-99E4-C7A197DBF3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0F9BBA94-577B-0922-7EBA-9230BF1214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ADED2193-27BD-F310-6F6D-5F641CF895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9878E6-05C3-497D-9DBF-EF359977DB98}" type="datetime1">
              <a:rPr lang="en-IN" smtClean="0"/>
              <a:t>28-05-2025</a:t>
            </a:fld>
            <a:endParaRPr lang="en-IN"/>
          </a:p>
        </p:txBody>
      </p:sp>
      <p:sp>
        <p:nvSpPr>
          <p:cNvPr id="5" name="Footer Placeholder 4">
            <a:extLst>
              <a:ext uri="{FF2B5EF4-FFF2-40B4-BE49-F238E27FC236}">
                <a16:creationId xmlns:a16="http://schemas.microsoft.com/office/drawing/2014/main" xmlns="" id="{F3023885-0BB5-3847-9117-538CDD01BB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Dept. of CSE (IoT&amp;CSBT), </a:t>
            </a:r>
            <a:endParaRPr lang="en-IN"/>
          </a:p>
        </p:txBody>
      </p:sp>
      <p:sp>
        <p:nvSpPr>
          <p:cNvPr id="6" name="Slide Number Placeholder 5">
            <a:extLst>
              <a:ext uri="{FF2B5EF4-FFF2-40B4-BE49-F238E27FC236}">
                <a16:creationId xmlns:a16="http://schemas.microsoft.com/office/drawing/2014/main" xmlns="" id="{7D504F63-DE07-289E-8371-271AFD6BA54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9020A1-FA28-4834-83A8-C0CE35CB1668}" type="slidenum">
              <a:rPr lang="en-IN" smtClean="0"/>
              <a:pPr/>
              <a:t>‹#›</a:t>
            </a:fld>
            <a:endParaRPr lang="en-IN"/>
          </a:p>
        </p:txBody>
      </p:sp>
    </p:spTree>
    <p:extLst>
      <p:ext uri="{BB962C8B-B14F-4D97-AF65-F5344CB8AC3E}">
        <p14:creationId xmlns:p14="http://schemas.microsoft.com/office/powerpoint/2010/main" val="4122547510"/>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hyperlink" Target="https://ieeexplore.ieee.org/document/6844743" TargetMode="Externa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hyperlink" Target="https://www.researchgate.net/publication/262166703_Toward_an_mPolicing_solution_for_Namibia_Leveraging_emerging_mobile_platforms_and_crime_mapping" TargetMode="Externa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hyperlink" Target="https://www.sciencedirect.com/science/article/abs/pii/0047235295000437" TargetMode="Externa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hyperlink" Target="https://ieeexplore.ieee.org/document/10369315" TargetMode="Externa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hyperlink" Target="https://ieeexplore.ieee.org/document/10250517" TargetMode="Externa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429D11E-1799-45FA-B0C6-7D6F2A6E14BC}"/>
              </a:ext>
            </a:extLst>
          </p:cNvPr>
          <p:cNvSpPr>
            <a:spLocks noGrp="1"/>
          </p:cNvSpPr>
          <p:nvPr>
            <p:ph type="ctrTitle"/>
          </p:nvPr>
        </p:nvSpPr>
        <p:spPr>
          <a:xfrm>
            <a:off x="-2" y="386597"/>
            <a:ext cx="12192000" cy="913827"/>
          </a:xfrm>
        </p:spPr>
        <p:txBody>
          <a:bodyPr>
            <a:normAutofit/>
          </a:bodyPr>
          <a:lstStyle/>
          <a:p>
            <a:r>
              <a:rPr lang="en-IN" sz="3600" b="1" dirty="0">
                <a:ln w="22225">
                  <a:solidFill>
                    <a:srgbClr val="C00000"/>
                  </a:solidFill>
                  <a:prstDash val="solid"/>
                </a:ln>
                <a:solidFill>
                  <a:srgbClr val="C00000"/>
                </a:solidFill>
                <a:latin typeface="+mn-lt"/>
                <a:cs typeface="Times New Roman" panose="02020603050405020304" pitchFamily="18" charset="0"/>
              </a:rPr>
              <a:t>EAST POINT COLLEGE OF ENGINEERING &amp; TECHNOLOGY</a:t>
            </a:r>
          </a:p>
        </p:txBody>
      </p:sp>
      <p:sp>
        <p:nvSpPr>
          <p:cNvPr id="5" name="TextBox 4">
            <a:extLst>
              <a:ext uri="{FF2B5EF4-FFF2-40B4-BE49-F238E27FC236}">
                <a16:creationId xmlns:a16="http://schemas.microsoft.com/office/drawing/2014/main" xmlns="" id="{FACE4605-4953-4CBB-B635-0B0762C43748}"/>
              </a:ext>
            </a:extLst>
          </p:cNvPr>
          <p:cNvSpPr txBox="1"/>
          <p:nvPr/>
        </p:nvSpPr>
        <p:spPr>
          <a:xfrm>
            <a:off x="898435" y="3491251"/>
            <a:ext cx="10080824" cy="954107"/>
          </a:xfrm>
          <a:prstGeom prst="rect">
            <a:avLst/>
          </a:prstGeom>
          <a:noFill/>
        </p:spPr>
        <p:txBody>
          <a:bodyPr wrap="square" rtlCol="0">
            <a:spAutoFit/>
          </a:bodyPr>
          <a:lstStyle/>
          <a:p>
            <a:pPr algn="ctr"/>
            <a:r>
              <a:rPr lang="en-US" sz="2800" b="1" dirty="0" smtClean="0">
                <a:solidFill>
                  <a:srgbClr val="002060"/>
                </a:solidFill>
              </a:rPr>
              <a:t>Project Title: </a:t>
            </a:r>
            <a:r>
              <a:rPr lang="en-IN" sz="2800" b="1" dirty="0">
                <a:solidFill>
                  <a:schemeClr val="accent2">
                    <a:lumMod val="75000"/>
                  </a:schemeClr>
                </a:solidFill>
                <a:latin typeface="Times New Roman" panose="02020603050405020304" pitchFamily="18" charset="0"/>
                <a:cs typeface="Times New Roman" panose="02020603050405020304" pitchFamily="18" charset="0"/>
              </a:rPr>
              <a:t>“Safe Alert: A Secure Crime Tip-Off and Reporting System”</a:t>
            </a:r>
            <a:endParaRPr lang="en-IN" sz="2800"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842CF2DE-BB0C-4F8A-A1B5-9C68C76566B8}"/>
              </a:ext>
            </a:extLst>
          </p:cNvPr>
          <p:cNvSpPr txBox="1"/>
          <p:nvPr/>
        </p:nvSpPr>
        <p:spPr>
          <a:xfrm>
            <a:off x="133005" y="4693272"/>
            <a:ext cx="5010494" cy="1938992"/>
          </a:xfrm>
          <a:prstGeom prst="rect">
            <a:avLst/>
          </a:prstGeom>
          <a:noFill/>
        </p:spPr>
        <p:txBody>
          <a:bodyPr wrap="square" rtlCol="0">
            <a:spAutoFit/>
          </a:bodyPr>
          <a:lstStyle/>
          <a:p>
            <a:pPr algn="ctr"/>
            <a:r>
              <a:rPr lang="en-IN" sz="2400" b="1" dirty="0" smtClean="0">
                <a:solidFill>
                  <a:srgbClr val="FF0000"/>
                </a:solidFill>
                <a:latin typeface="Times New Roman" panose="02020603050405020304" pitchFamily="18" charset="0"/>
                <a:cs typeface="Times New Roman" panose="02020603050405020304" pitchFamily="18" charset="0"/>
              </a:rPr>
              <a:t>By:</a:t>
            </a:r>
          </a:p>
          <a:p>
            <a:pPr algn="ctr"/>
            <a:r>
              <a:rPr lang="en-IN" sz="2400" b="1" dirty="0" smtClean="0">
                <a:solidFill>
                  <a:schemeClr val="accent6">
                    <a:lumMod val="75000"/>
                  </a:schemeClr>
                </a:solidFill>
                <a:latin typeface="Times New Roman" panose="02020603050405020304" pitchFamily="18" charset="0"/>
                <a:cs typeface="Times New Roman" panose="02020603050405020304" pitchFamily="18" charset="0"/>
              </a:rPr>
              <a:t>M Prem Venkat </a:t>
            </a:r>
            <a:r>
              <a:rPr lang="en-IN" sz="2400" b="1" dirty="0">
                <a:solidFill>
                  <a:schemeClr val="accent6">
                    <a:lumMod val="75000"/>
                  </a:schemeClr>
                </a:solidFill>
                <a:latin typeface="Times New Roman" panose="02020603050405020304" pitchFamily="18" charset="0"/>
                <a:cs typeface="Times New Roman" panose="02020603050405020304" pitchFamily="18" charset="0"/>
              </a:rPr>
              <a:t>(</a:t>
            </a:r>
            <a:r>
              <a:rPr lang="en-IN" sz="2400" b="1" dirty="0" smtClean="0">
                <a:solidFill>
                  <a:schemeClr val="accent6">
                    <a:lumMod val="75000"/>
                  </a:schemeClr>
                </a:solidFill>
                <a:latin typeface="Times New Roman" panose="02020603050405020304" pitchFamily="18" charset="0"/>
                <a:cs typeface="Times New Roman" panose="02020603050405020304" pitchFamily="18" charset="0"/>
              </a:rPr>
              <a:t>1EP22IC029)</a:t>
            </a:r>
            <a:endParaRPr lang="en-IN" sz="2400" b="1" dirty="0">
              <a:solidFill>
                <a:schemeClr val="accent6">
                  <a:lumMod val="75000"/>
                </a:schemeClr>
              </a:solidFill>
              <a:latin typeface="Times New Roman" panose="02020603050405020304" pitchFamily="18" charset="0"/>
              <a:cs typeface="Times New Roman" panose="02020603050405020304" pitchFamily="18" charset="0"/>
            </a:endParaRPr>
          </a:p>
          <a:p>
            <a:pPr algn="ctr"/>
            <a:r>
              <a:rPr lang="en-IN" sz="2400" b="1" dirty="0" smtClean="0">
                <a:solidFill>
                  <a:schemeClr val="accent6">
                    <a:lumMod val="75000"/>
                  </a:schemeClr>
                </a:solidFill>
                <a:latin typeface="Times New Roman" panose="02020603050405020304" pitchFamily="18" charset="0"/>
                <a:cs typeface="Times New Roman" panose="02020603050405020304" pitchFamily="18" charset="0"/>
              </a:rPr>
              <a:t>Nisha K  </a:t>
            </a:r>
            <a:r>
              <a:rPr lang="en-IN" sz="2400" b="1" dirty="0">
                <a:solidFill>
                  <a:schemeClr val="accent6">
                    <a:lumMod val="75000"/>
                  </a:schemeClr>
                </a:solidFill>
                <a:latin typeface="Times New Roman" panose="02020603050405020304" pitchFamily="18" charset="0"/>
                <a:cs typeface="Times New Roman" panose="02020603050405020304" pitchFamily="18" charset="0"/>
              </a:rPr>
              <a:t>(</a:t>
            </a:r>
            <a:r>
              <a:rPr lang="en-IN" sz="2400" b="1" dirty="0" smtClean="0">
                <a:solidFill>
                  <a:schemeClr val="accent6">
                    <a:lumMod val="75000"/>
                  </a:schemeClr>
                </a:solidFill>
                <a:latin typeface="Times New Roman" panose="02020603050405020304" pitchFamily="18" charset="0"/>
                <a:cs typeface="Times New Roman" panose="02020603050405020304" pitchFamily="18" charset="0"/>
              </a:rPr>
              <a:t>1EP22IC035) </a:t>
            </a:r>
            <a:endParaRPr lang="en-IN" sz="2400" b="1" dirty="0">
              <a:solidFill>
                <a:schemeClr val="accent6">
                  <a:lumMod val="75000"/>
                </a:schemeClr>
              </a:solidFill>
              <a:latin typeface="Times New Roman" panose="02020603050405020304" pitchFamily="18" charset="0"/>
              <a:cs typeface="Times New Roman" panose="02020603050405020304" pitchFamily="18" charset="0"/>
            </a:endParaRPr>
          </a:p>
          <a:p>
            <a:pPr algn="ctr"/>
            <a:r>
              <a:rPr lang="en-IN" sz="2400" b="1" dirty="0">
                <a:solidFill>
                  <a:schemeClr val="accent6">
                    <a:lumMod val="75000"/>
                  </a:schemeClr>
                </a:solidFill>
                <a:latin typeface="Times New Roman" panose="02020603050405020304" pitchFamily="18" charset="0"/>
                <a:cs typeface="Times New Roman" panose="02020603050405020304" pitchFamily="18" charset="0"/>
              </a:rPr>
              <a:t>   </a:t>
            </a:r>
            <a:r>
              <a:rPr lang="en-IN" sz="2400" b="1" dirty="0" smtClean="0">
                <a:solidFill>
                  <a:schemeClr val="accent6">
                    <a:lumMod val="75000"/>
                  </a:schemeClr>
                </a:solidFill>
                <a:latin typeface="Times New Roman" panose="02020603050405020304" pitchFamily="18" charset="0"/>
                <a:cs typeface="Times New Roman" panose="02020603050405020304" pitchFamily="18" charset="0"/>
              </a:rPr>
              <a:t>Niveditha C (1EP22IC036) </a:t>
            </a:r>
            <a:endParaRPr lang="en-IN" sz="2400" b="1" dirty="0">
              <a:solidFill>
                <a:schemeClr val="accent6">
                  <a:lumMod val="75000"/>
                </a:schemeClr>
              </a:solidFill>
              <a:latin typeface="Times New Roman" panose="02020603050405020304" pitchFamily="18" charset="0"/>
              <a:cs typeface="Times New Roman" panose="02020603050405020304" pitchFamily="18" charset="0"/>
            </a:endParaRPr>
          </a:p>
          <a:p>
            <a:pPr algn="ctr"/>
            <a:r>
              <a:rPr lang="en-IN" sz="2400" b="1">
                <a:solidFill>
                  <a:schemeClr val="accent6">
                    <a:lumMod val="75000"/>
                  </a:schemeClr>
                </a:solidFill>
                <a:latin typeface="Times New Roman" panose="02020603050405020304" pitchFamily="18" charset="0"/>
                <a:cs typeface="Times New Roman" panose="02020603050405020304" pitchFamily="18" charset="0"/>
              </a:rPr>
              <a:t> </a:t>
            </a:r>
            <a:r>
              <a:rPr lang="en-IN" sz="2400" b="1" smtClean="0">
                <a:solidFill>
                  <a:schemeClr val="accent6">
                    <a:lumMod val="75000"/>
                  </a:schemeClr>
                </a:solidFill>
                <a:latin typeface="Times New Roman" panose="02020603050405020304" pitchFamily="18" charset="0"/>
                <a:cs typeface="Times New Roman" panose="02020603050405020304" pitchFamily="18" charset="0"/>
              </a:rPr>
              <a:t>Syeda</a:t>
            </a:r>
            <a:r>
              <a:rPr lang="en-IN" sz="2400" b="1" dirty="0" smtClean="0">
                <a:solidFill>
                  <a:schemeClr val="accent6">
                    <a:lumMod val="75000"/>
                  </a:schemeClr>
                </a:solidFill>
                <a:latin typeface="Times New Roman" panose="02020603050405020304" pitchFamily="18" charset="0"/>
                <a:cs typeface="Times New Roman" panose="02020603050405020304" pitchFamily="18" charset="0"/>
              </a:rPr>
              <a:t> Saniya </a:t>
            </a:r>
            <a:r>
              <a:rPr lang="en-IN" sz="2400" b="1" dirty="0" smtClean="0">
                <a:solidFill>
                  <a:schemeClr val="accent6">
                    <a:lumMod val="75000"/>
                  </a:schemeClr>
                </a:solidFill>
                <a:latin typeface="Times New Roman" panose="02020603050405020304" pitchFamily="18" charset="0"/>
                <a:cs typeface="Times New Roman" panose="02020603050405020304" pitchFamily="18" charset="0"/>
              </a:rPr>
              <a:t>Khazi  </a:t>
            </a:r>
            <a:r>
              <a:rPr lang="en-IN" sz="2400" b="1" dirty="0">
                <a:solidFill>
                  <a:schemeClr val="accent6">
                    <a:lumMod val="75000"/>
                  </a:schemeClr>
                </a:solidFill>
                <a:latin typeface="Times New Roman" panose="02020603050405020304" pitchFamily="18" charset="0"/>
                <a:cs typeface="Times New Roman" panose="02020603050405020304" pitchFamily="18" charset="0"/>
              </a:rPr>
              <a:t>(</a:t>
            </a:r>
            <a:r>
              <a:rPr lang="en-IN" sz="2400" b="1" dirty="0" smtClean="0">
                <a:solidFill>
                  <a:schemeClr val="accent6">
                    <a:lumMod val="75000"/>
                  </a:schemeClr>
                </a:solidFill>
                <a:latin typeface="Times New Roman" panose="02020603050405020304" pitchFamily="18" charset="0"/>
                <a:cs typeface="Times New Roman" panose="02020603050405020304" pitchFamily="18" charset="0"/>
              </a:rPr>
              <a:t>1EP22IC054)</a:t>
            </a:r>
            <a:endParaRPr lang="en-IN" sz="2400" b="1" dirty="0">
              <a:solidFill>
                <a:srgbClr val="00206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3E4D2BB2-F645-4614-9A42-33A44804E7A8}"/>
              </a:ext>
            </a:extLst>
          </p:cNvPr>
          <p:cNvSpPr txBox="1"/>
          <p:nvPr/>
        </p:nvSpPr>
        <p:spPr>
          <a:xfrm>
            <a:off x="0" y="-24402"/>
            <a:ext cx="12191999" cy="584775"/>
          </a:xfrm>
          <a:prstGeom prst="rect">
            <a:avLst/>
          </a:prstGeom>
          <a:solidFill>
            <a:srgbClr val="002060"/>
          </a:solidFill>
        </p:spPr>
        <p:txBody>
          <a:bodyPr wrap="square" rtlCol="0">
            <a:spAutoFit/>
          </a:bodyPr>
          <a:lstStyle/>
          <a:p>
            <a:pPr algn="ctr"/>
            <a:r>
              <a:rPr lang="en-IN" sz="3200" b="1" dirty="0">
                <a:solidFill>
                  <a:schemeClr val="bg1"/>
                </a:solidFill>
              </a:rPr>
              <a:t>Department of Computer Science and Engineering (IoT&amp;CSBT)</a:t>
            </a:r>
          </a:p>
        </p:txBody>
      </p:sp>
      <p:sp>
        <p:nvSpPr>
          <p:cNvPr id="10" name="TextBox 9">
            <a:extLst>
              <a:ext uri="{FF2B5EF4-FFF2-40B4-BE49-F238E27FC236}">
                <a16:creationId xmlns:a16="http://schemas.microsoft.com/office/drawing/2014/main" xmlns="" id="{5CDDFF03-671F-44F5-A1B6-42884E535C90}"/>
              </a:ext>
            </a:extLst>
          </p:cNvPr>
          <p:cNvSpPr txBox="1"/>
          <p:nvPr/>
        </p:nvSpPr>
        <p:spPr>
          <a:xfrm>
            <a:off x="0" y="3029586"/>
            <a:ext cx="12191998" cy="461665"/>
          </a:xfrm>
          <a:prstGeom prst="rect">
            <a:avLst/>
          </a:prstGeom>
          <a:solidFill>
            <a:schemeClr val="bg1"/>
          </a:solidFill>
        </p:spPr>
        <p:txBody>
          <a:bodyPr wrap="square" rtlCol="0">
            <a:spAutoFit/>
          </a:bodyPr>
          <a:lstStyle/>
          <a:p>
            <a:pPr algn="ctr"/>
            <a:r>
              <a:rPr lang="en-IN" sz="2400" b="1" dirty="0"/>
              <a:t>BIC685 - Project Presentation</a:t>
            </a:r>
          </a:p>
        </p:txBody>
      </p:sp>
      <p:pic>
        <p:nvPicPr>
          <p:cNvPr id="11" name="Picture 10"/>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3499" y="1390457"/>
            <a:ext cx="19050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a:extLst>
              <a:ext uri="{FF2B5EF4-FFF2-40B4-BE49-F238E27FC236}">
                <a16:creationId xmlns:a16="http://schemas.microsoft.com/office/drawing/2014/main" xmlns="" id="{B54F4046-2247-4401-88D7-9C839B401B89}"/>
              </a:ext>
            </a:extLst>
          </p:cNvPr>
          <p:cNvSpPr txBox="1"/>
          <p:nvPr/>
        </p:nvSpPr>
        <p:spPr>
          <a:xfrm>
            <a:off x="5938847" y="4693272"/>
            <a:ext cx="5509847" cy="2092881"/>
          </a:xfrm>
          <a:prstGeom prst="rect">
            <a:avLst/>
          </a:prstGeom>
          <a:noFill/>
        </p:spPr>
        <p:txBody>
          <a:bodyPr wrap="square" rtlCol="0">
            <a:spAutoFit/>
          </a:bodyPr>
          <a:lstStyle/>
          <a:p>
            <a:pPr algn="ctr"/>
            <a:r>
              <a:rPr lang="en-IN" sz="1600" b="1" dirty="0">
                <a:solidFill>
                  <a:srgbClr val="FF0000"/>
                </a:solidFill>
                <a:latin typeface="Times New Roman" panose="02020603050405020304" pitchFamily="18" charset="0"/>
                <a:cs typeface="Times New Roman" panose="02020603050405020304" pitchFamily="18" charset="0"/>
              </a:rPr>
              <a:t>Under the Guidance of</a:t>
            </a:r>
            <a:endParaRPr lang="en-IN" sz="1600" b="1" dirty="0">
              <a:solidFill>
                <a:srgbClr val="002060"/>
              </a:solidFill>
              <a:latin typeface="Times New Roman" panose="02020603050405020304" pitchFamily="18" charset="0"/>
              <a:cs typeface="Times New Roman" panose="02020603050405020304" pitchFamily="18" charset="0"/>
            </a:endParaRPr>
          </a:p>
          <a:p>
            <a:pPr algn="ctr"/>
            <a:r>
              <a:rPr lang="en-IN" sz="1600" b="1" dirty="0" err="1">
                <a:solidFill>
                  <a:srgbClr val="002060"/>
                </a:solidFill>
                <a:latin typeface="Times New Roman" panose="02020603050405020304" pitchFamily="18" charset="0"/>
                <a:cs typeface="Times New Roman" panose="02020603050405020304" pitchFamily="18" charset="0"/>
              </a:rPr>
              <a:t>Dr.</a:t>
            </a:r>
            <a:r>
              <a:rPr lang="en-IN" sz="1600" b="1" dirty="0">
                <a:solidFill>
                  <a:srgbClr val="002060"/>
                </a:solidFill>
                <a:latin typeface="Times New Roman" panose="02020603050405020304" pitchFamily="18" charset="0"/>
                <a:cs typeface="Times New Roman" panose="02020603050405020304" pitchFamily="18" charset="0"/>
              </a:rPr>
              <a:t> Nanda Ashwin</a:t>
            </a:r>
          </a:p>
          <a:p>
            <a:pPr algn="ctr"/>
            <a:r>
              <a:rPr lang="en-IN" sz="1600" b="1" dirty="0">
                <a:solidFill>
                  <a:srgbClr val="002060"/>
                </a:solidFill>
                <a:latin typeface="Times New Roman" panose="02020603050405020304" pitchFamily="18" charset="0"/>
                <a:cs typeface="Times New Roman" panose="02020603050405020304" pitchFamily="18" charset="0"/>
              </a:rPr>
              <a:t>Prof &amp; HOD, Dept. of CSE (</a:t>
            </a:r>
            <a:r>
              <a:rPr lang="en-IN" sz="1600" b="1" dirty="0" err="1">
                <a:solidFill>
                  <a:srgbClr val="002060"/>
                </a:solidFill>
                <a:latin typeface="Times New Roman" panose="02020603050405020304" pitchFamily="18" charset="0"/>
                <a:cs typeface="Times New Roman" panose="02020603050405020304" pitchFamily="18" charset="0"/>
              </a:rPr>
              <a:t>IoT</a:t>
            </a:r>
            <a:r>
              <a:rPr lang="en-IN" sz="1600" b="1" dirty="0">
                <a:solidFill>
                  <a:srgbClr val="002060"/>
                </a:solidFill>
                <a:latin typeface="Times New Roman" panose="02020603050405020304" pitchFamily="18" charset="0"/>
                <a:cs typeface="Times New Roman" panose="02020603050405020304" pitchFamily="18" charset="0"/>
              </a:rPr>
              <a:t> &amp; CSBT) </a:t>
            </a:r>
            <a:endParaRPr lang="en-IN" sz="1600" b="1" dirty="0">
              <a:solidFill>
                <a:srgbClr val="FF0000"/>
              </a:solidFill>
              <a:latin typeface="Times New Roman" panose="02020603050405020304" pitchFamily="18" charset="0"/>
              <a:cs typeface="Times New Roman" panose="02020603050405020304" pitchFamily="18" charset="0"/>
            </a:endParaRPr>
          </a:p>
          <a:p>
            <a:pPr algn="ctr"/>
            <a:r>
              <a:rPr lang="en-IN" sz="1600" b="1" dirty="0" smtClean="0">
                <a:solidFill>
                  <a:srgbClr val="FF0000"/>
                </a:solidFill>
                <a:latin typeface="Times New Roman" panose="02020603050405020304" pitchFamily="18" charset="0"/>
                <a:cs typeface="Times New Roman" panose="02020603050405020304" pitchFamily="18" charset="0"/>
              </a:rPr>
              <a:t>Project </a:t>
            </a:r>
            <a:r>
              <a:rPr lang="en-IN" sz="1600" b="1" dirty="0">
                <a:solidFill>
                  <a:srgbClr val="FF0000"/>
                </a:solidFill>
                <a:latin typeface="Times New Roman" panose="02020603050405020304" pitchFamily="18" charset="0"/>
                <a:cs typeface="Times New Roman" panose="02020603050405020304" pitchFamily="18" charset="0"/>
              </a:rPr>
              <a:t>Committee</a:t>
            </a:r>
          </a:p>
          <a:p>
            <a:pPr algn="ctr"/>
            <a:r>
              <a:rPr lang="en-IN" sz="1600" b="1" dirty="0" err="1">
                <a:solidFill>
                  <a:srgbClr val="002060"/>
                </a:solidFill>
                <a:latin typeface="Times New Roman" panose="02020603050405020304" pitchFamily="18" charset="0"/>
                <a:cs typeface="Times New Roman" panose="02020603050405020304" pitchFamily="18" charset="0"/>
              </a:rPr>
              <a:t>Dr.</a:t>
            </a:r>
            <a:r>
              <a:rPr lang="en-IN" sz="1600" b="1" dirty="0">
                <a:solidFill>
                  <a:srgbClr val="002060"/>
                </a:solidFill>
                <a:latin typeface="Times New Roman" panose="02020603050405020304" pitchFamily="18" charset="0"/>
                <a:cs typeface="Times New Roman" panose="02020603050405020304" pitchFamily="18" charset="0"/>
              </a:rPr>
              <a:t> </a:t>
            </a:r>
            <a:r>
              <a:rPr lang="en-IN" sz="1600" b="1" dirty="0" err="1">
                <a:solidFill>
                  <a:srgbClr val="002060"/>
                </a:solidFill>
                <a:latin typeface="Times New Roman" panose="02020603050405020304" pitchFamily="18" charset="0"/>
                <a:cs typeface="Times New Roman" panose="02020603050405020304" pitchFamily="18" charset="0"/>
              </a:rPr>
              <a:t>Komala</a:t>
            </a:r>
            <a:r>
              <a:rPr lang="en-IN" sz="1600" b="1" dirty="0">
                <a:solidFill>
                  <a:srgbClr val="002060"/>
                </a:solidFill>
                <a:latin typeface="Times New Roman" panose="02020603050405020304" pitchFamily="18" charset="0"/>
                <a:cs typeface="Times New Roman" panose="02020603050405020304" pitchFamily="18" charset="0"/>
              </a:rPr>
              <a:t> C </a:t>
            </a:r>
            <a:r>
              <a:rPr lang="en-IN" sz="1600" b="1" dirty="0" smtClean="0">
                <a:solidFill>
                  <a:srgbClr val="002060"/>
                </a:solidFill>
                <a:latin typeface="Times New Roman" panose="02020603050405020304" pitchFamily="18" charset="0"/>
                <a:cs typeface="Times New Roman" panose="02020603050405020304" pitchFamily="18" charset="0"/>
              </a:rPr>
              <a:t>R </a:t>
            </a:r>
          </a:p>
          <a:p>
            <a:pPr algn="ctr"/>
            <a:r>
              <a:rPr lang="en-IN" sz="1600" b="1" dirty="0" smtClean="0">
                <a:solidFill>
                  <a:srgbClr val="002060"/>
                </a:solidFill>
                <a:latin typeface="Times New Roman" panose="02020603050405020304" pitchFamily="18" charset="0"/>
                <a:cs typeface="Times New Roman" panose="02020603050405020304" pitchFamily="18" charset="0"/>
              </a:rPr>
              <a:t>Professor</a:t>
            </a:r>
            <a:r>
              <a:rPr lang="en-IN" sz="1600" b="1" dirty="0">
                <a:solidFill>
                  <a:srgbClr val="002060"/>
                </a:solidFill>
                <a:latin typeface="Times New Roman" panose="02020603050405020304" pitchFamily="18" charset="0"/>
                <a:cs typeface="Times New Roman" panose="02020603050405020304" pitchFamily="18" charset="0"/>
              </a:rPr>
              <a:t>, Dept. of CSE (IoT&amp;CSBT) </a:t>
            </a:r>
          </a:p>
          <a:p>
            <a:pPr algn="ctr"/>
            <a:r>
              <a:rPr lang="en-IN" sz="1600" b="1" dirty="0" err="1">
                <a:solidFill>
                  <a:srgbClr val="002060"/>
                </a:solidFill>
                <a:latin typeface="Times New Roman" panose="02020603050405020304" pitchFamily="18" charset="0"/>
                <a:cs typeface="Times New Roman" panose="02020603050405020304" pitchFamily="18" charset="0"/>
              </a:rPr>
              <a:t>Dr.</a:t>
            </a:r>
            <a:r>
              <a:rPr lang="en-IN" sz="1600" b="1" dirty="0">
                <a:solidFill>
                  <a:srgbClr val="002060"/>
                </a:solidFill>
                <a:latin typeface="Times New Roman" panose="02020603050405020304" pitchFamily="18" charset="0"/>
                <a:cs typeface="Times New Roman" panose="02020603050405020304" pitchFamily="18" charset="0"/>
              </a:rPr>
              <a:t> Nanda </a:t>
            </a:r>
            <a:r>
              <a:rPr lang="en-IN" sz="1600" b="1" dirty="0" smtClean="0">
                <a:solidFill>
                  <a:srgbClr val="002060"/>
                </a:solidFill>
                <a:latin typeface="Times New Roman" panose="02020603050405020304" pitchFamily="18" charset="0"/>
                <a:cs typeface="Times New Roman" panose="02020603050405020304" pitchFamily="18" charset="0"/>
              </a:rPr>
              <a:t>Ashwin</a:t>
            </a:r>
          </a:p>
          <a:p>
            <a:pPr algn="ctr"/>
            <a:r>
              <a:rPr lang="en-IN" sz="1600" b="1" dirty="0" smtClean="0">
                <a:solidFill>
                  <a:srgbClr val="002060"/>
                </a:solidFill>
                <a:latin typeface="Times New Roman" panose="02020603050405020304" pitchFamily="18" charset="0"/>
                <a:cs typeface="Times New Roman" panose="02020603050405020304" pitchFamily="18" charset="0"/>
              </a:rPr>
              <a:t>Prof </a:t>
            </a:r>
            <a:r>
              <a:rPr lang="en-IN" sz="1600" b="1" dirty="0">
                <a:solidFill>
                  <a:srgbClr val="002060"/>
                </a:solidFill>
                <a:latin typeface="Times New Roman" panose="02020603050405020304" pitchFamily="18" charset="0"/>
                <a:cs typeface="Times New Roman" panose="02020603050405020304" pitchFamily="18" charset="0"/>
              </a:rPr>
              <a:t>&amp; HOD, Dept. of CSE (IoT&amp;CSBT)</a:t>
            </a:r>
            <a:r>
              <a:rPr lang="en-IN" b="1" dirty="0">
                <a:solidFill>
                  <a:srgbClr val="002060"/>
                </a:solidFill>
                <a:latin typeface="Times New Roman" panose="02020603050405020304" pitchFamily="18" charset="0"/>
                <a:cs typeface="Times New Roman" panose="02020603050405020304" pitchFamily="18" charset="0"/>
              </a:rPr>
              <a:t> </a:t>
            </a:r>
          </a:p>
        </p:txBody>
      </p:sp>
      <p:sp>
        <p:nvSpPr>
          <p:cNvPr id="7" name="Slide Number Placeholder 6">
            <a:extLst>
              <a:ext uri="{FF2B5EF4-FFF2-40B4-BE49-F238E27FC236}">
                <a16:creationId xmlns:a16="http://schemas.microsoft.com/office/drawing/2014/main" xmlns="" id="{BED6C79E-4D2D-81A8-2680-D8FB811C9511}"/>
              </a:ext>
            </a:extLst>
          </p:cNvPr>
          <p:cNvSpPr>
            <a:spLocks noGrp="1"/>
          </p:cNvSpPr>
          <p:nvPr>
            <p:ph type="sldNum" sz="quarter" idx="12"/>
          </p:nvPr>
        </p:nvSpPr>
        <p:spPr/>
        <p:txBody>
          <a:bodyPr/>
          <a:lstStyle/>
          <a:p>
            <a:fld id="{249020A1-FA28-4834-83A8-C0CE35CB1668}" type="slidenum">
              <a:rPr lang="en-IN" smtClean="0"/>
              <a:pPr/>
              <a:t>1</a:t>
            </a:fld>
            <a:endParaRPr lang="en-IN" dirty="0"/>
          </a:p>
        </p:txBody>
      </p:sp>
    </p:spTree>
    <p:extLst>
      <p:ext uri="{BB962C8B-B14F-4D97-AF65-F5344CB8AC3E}">
        <p14:creationId xmlns:p14="http://schemas.microsoft.com/office/powerpoint/2010/main" val="4114172918"/>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56846"/>
          </a:xfrm>
        </p:spPr>
        <p:txBody>
          <a:bodyPr>
            <a:normAutofit/>
          </a:bodyPr>
          <a:lstStyle/>
          <a:p>
            <a:r>
              <a:rPr lang="en-IN" sz="5000" b="1" dirty="0" smtClean="0">
                <a:latin typeface="Times New Roman" panose="02020603050405020304" pitchFamily="18" charset="0"/>
                <a:cs typeface="Times New Roman" panose="02020603050405020304" pitchFamily="18" charset="0"/>
              </a:rPr>
              <a:t>Presentation Outline</a:t>
            </a:r>
            <a:endParaRPr lang="en-IN" sz="5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68178"/>
            <a:ext cx="10515600" cy="4888172"/>
          </a:xfrm>
        </p:spPr>
        <p:txBody>
          <a:bodyPr>
            <a:noAutofit/>
          </a:bodyPr>
          <a:lstStyle/>
          <a:p>
            <a:pPr>
              <a:buFont typeface="Wingdings" panose="05000000000000000000" pitchFamily="2" charset="2"/>
              <a:buChar char="Ø"/>
            </a:pPr>
            <a:r>
              <a:rPr lang="en-IN" sz="1800" dirty="0" smtClean="0">
                <a:latin typeface="Times New Roman" panose="02020603050405020304" pitchFamily="18" charset="0"/>
                <a:cs typeface="Times New Roman" panose="02020603050405020304" pitchFamily="18" charset="0"/>
              </a:rPr>
              <a:t> Abstract</a:t>
            </a:r>
          </a:p>
          <a:p>
            <a:pP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 </a:t>
            </a:r>
            <a:r>
              <a:rPr lang="en-IN" sz="1800" dirty="0" smtClean="0">
                <a:latin typeface="Times New Roman" panose="02020603050405020304" pitchFamily="18" charset="0"/>
                <a:cs typeface="Times New Roman" panose="02020603050405020304" pitchFamily="18" charset="0"/>
              </a:rPr>
              <a:t>Objectives</a:t>
            </a:r>
          </a:p>
          <a:p>
            <a:pP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 </a:t>
            </a:r>
            <a:r>
              <a:rPr lang="en-IN" sz="1800" dirty="0" smtClean="0">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 </a:t>
            </a:r>
            <a:r>
              <a:rPr lang="en-IN" sz="1800" dirty="0" smtClean="0">
                <a:latin typeface="Times New Roman" panose="02020603050405020304" pitchFamily="18" charset="0"/>
                <a:cs typeface="Times New Roman" panose="02020603050405020304" pitchFamily="18" charset="0"/>
              </a:rPr>
              <a:t>Problem Statement</a:t>
            </a:r>
          </a:p>
          <a:p>
            <a:pP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 </a:t>
            </a:r>
            <a:r>
              <a:rPr lang="en-IN" sz="1800" dirty="0" smtClean="0">
                <a:latin typeface="Times New Roman" panose="02020603050405020304" pitchFamily="18" charset="0"/>
                <a:cs typeface="Times New Roman" panose="02020603050405020304" pitchFamily="18" charset="0"/>
              </a:rPr>
              <a:t>Existing System</a:t>
            </a:r>
          </a:p>
          <a:p>
            <a:pP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 </a:t>
            </a:r>
            <a:r>
              <a:rPr lang="en-IN" sz="1800" dirty="0" smtClean="0">
                <a:latin typeface="Times New Roman" panose="02020603050405020304" pitchFamily="18" charset="0"/>
                <a:cs typeface="Times New Roman" panose="02020603050405020304" pitchFamily="18" charset="0"/>
              </a:rPr>
              <a:t>Proposed System</a:t>
            </a:r>
          </a:p>
          <a:p>
            <a:pP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 </a:t>
            </a:r>
            <a:r>
              <a:rPr lang="en-IN" sz="1800" dirty="0" smtClean="0">
                <a:latin typeface="Times New Roman" panose="02020603050405020304" pitchFamily="18" charset="0"/>
                <a:cs typeface="Times New Roman" panose="02020603050405020304" pitchFamily="18" charset="0"/>
              </a:rPr>
              <a:t>Literature Survey</a:t>
            </a:r>
          </a:p>
          <a:p>
            <a:pP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 </a:t>
            </a:r>
            <a:r>
              <a:rPr lang="en-IN" sz="1800" dirty="0" smtClean="0">
                <a:latin typeface="Times New Roman" panose="02020603050405020304" pitchFamily="18" charset="0"/>
                <a:cs typeface="Times New Roman" panose="02020603050405020304" pitchFamily="18" charset="0"/>
              </a:rPr>
              <a:t>Project Schedules/Gantt Chart</a:t>
            </a:r>
          </a:p>
          <a:p>
            <a:pP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 </a:t>
            </a:r>
            <a:r>
              <a:rPr lang="en-IN" sz="1800" dirty="0" smtClean="0">
                <a:latin typeface="Times New Roman" panose="02020603050405020304" pitchFamily="18" charset="0"/>
                <a:cs typeface="Times New Roman" panose="02020603050405020304" pitchFamily="18" charset="0"/>
              </a:rPr>
              <a:t>Required Specification</a:t>
            </a:r>
          </a:p>
          <a:p>
            <a:pP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 </a:t>
            </a:r>
            <a:r>
              <a:rPr lang="en-IN" sz="1800" dirty="0" smtClean="0">
                <a:latin typeface="Times New Roman" panose="02020603050405020304" pitchFamily="18" charset="0"/>
                <a:cs typeface="Times New Roman" panose="02020603050405020304" pitchFamily="18" charset="0"/>
              </a:rPr>
              <a:t>Methodology</a:t>
            </a:r>
          </a:p>
          <a:p>
            <a:pP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 </a:t>
            </a:r>
            <a:r>
              <a:rPr lang="en-IN" sz="1800" dirty="0" smtClean="0">
                <a:latin typeface="Times New Roman" panose="02020603050405020304" pitchFamily="18" charset="0"/>
                <a:cs typeface="Times New Roman" panose="02020603050405020304" pitchFamily="18" charset="0"/>
              </a:rPr>
              <a:t>Expected Results</a:t>
            </a:r>
          </a:p>
          <a:p>
            <a:pP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 </a:t>
            </a:r>
            <a:r>
              <a:rPr lang="en-IN" sz="1800" dirty="0" smtClean="0">
                <a:latin typeface="Times New Roman" panose="02020603050405020304" pitchFamily="18" charset="0"/>
                <a:cs typeface="Times New Roman" panose="02020603050405020304" pitchFamily="18" charset="0"/>
              </a:rPr>
              <a:t>Conclusion</a:t>
            </a:r>
          </a:p>
          <a:p>
            <a:pPr>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 </a:t>
            </a:r>
            <a:r>
              <a:rPr lang="en-IN" sz="1800" dirty="0" smtClean="0">
                <a:latin typeface="Times New Roman" panose="02020603050405020304" pitchFamily="18" charset="0"/>
                <a:cs typeface="Times New Roman" panose="02020603050405020304" pitchFamily="18" charset="0"/>
              </a:rPr>
              <a:t>References</a:t>
            </a:r>
            <a:endParaRPr lang="en-IN" sz="18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249020A1-FA28-4834-83A8-C0CE35CB1668}" type="slidenum">
              <a:rPr lang="en-IN" smtClean="0"/>
              <a:pPr/>
              <a:t>2</a:t>
            </a:fld>
            <a:endParaRPr lang="en-IN"/>
          </a:p>
        </p:txBody>
      </p:sp>
    </p:spTree>
    <p:extLst>
      <p:ext uri="{BB962C8B-B14F-4D97-AF65-F5344CB8AC3E}">
        <p14:creationId xmlns:p14="http://schemas.microsoft.com/office/powerpoint/2010/main" val="624958071"/>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55B53E-AF62-AC87-EDE5-56DD601C23CB}"/>
              </a:ext>
            </a:extLst>
          </p:cNvPr>
          <p:cNvSpPr>
            <a:spLocks noGrp="1"/>
          </p:cNvSpPr>
          <p:nvPr>
            <p:ph type="title"/>
          </p:nvPr>
        </p:nvSpPr>
        <p:spPr>
          <a:xfrm>
            <a:off x="838200" y="263525"/>
            <a:ext cx="10515600" cy="1031875"/>
          </a:xfrm>
        </p:spPr>
        <p:txBody>
          <a:bodyPr>
            <a:normAutofit/>
          </a:bodyPr>
          <a:lstStyle/>
          <a:p>
            <a:pPr algn="ctr"/>
            <a:r>
              <a:rPr lang="en-US" sz="6000" b="1" dirty="0" smtClean="0">
                <a:latin typeface="Times New Roman" panose="02020603050405020304" pitchFamily="18" charset="0"/>
                <a:cs typeface="Times New Roman" panose="02020603050405020304" pitchFamily="18" charset="0"/>
              </a:rPr>
              <a:t>ABSTRACT</a:t>
            </a:r>
            <a:endParaRPr lang="en-IN" sz="60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A4761BBA-920D-D23D-167F-0D3E8E725F61}"/>
              </a:ext>
            </a:extLst>
          </p:cNvPr>
          <p:cNvSpPr txBox="1"/>
          <p:nvPr/>
        </p:nvSpPr>
        <p:spPr>
          <a:xfrm>
            <a:off x="838200" y="1460599"/>
            <a:ext cx="10515600" cy="5078313"/>
          </a:xfrm>
          <a:prstGeom prst="rect">
            <a:avLst/>
          </a:prstGeom>
          <a:noFill/>
        </p:spPr>
        <p:txBody>
          <a:bodyPr wrap="square">
            <a:spAutoFit/>
          </a:bodyPr>
          <a:lstStyle/>
          <a:p>
            <a:endParaRPr lang="en-US" dirty="0">
              <a:solidFill>
                <a:srgbClr val="002060"/>
              </a:solidFill>
              <a:effectLst>
                <a:outerShdw blurRad="38100" dist="38100" dir="2700000" algn="tl">
                  <a:srgbClr val="000000">
                    <a:alpha val="43137"/>
                  </a:srgbClr>
                </a:outerShdw>
              </a:effectLst>
            </a:endParaRPr>
          </a:p>
          <a:p>
            <a:pPr marL="285750" indent="-285750">
              <a:lnSpc>
                <a:spcPct val="100000"/>
              </a:lnSpc>
              <a:buClr>
                <a:schemeClr val="tx1"/>
              </a:buClr>
              <a:buSzPct val="100000"/>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Secure </a:t>
            </a:r>
            <a:r>
              <a:rPr lang="en-US" dirty="0">
                <a:latin typeface="Times New Roman" panose="02020603050405020304" pitchFamily="18" charset="0"/>
                <a:cs typeface="Times New Roman" panose="02020603050405020304" pitchFamily="18" charset="0"/>
              </a:rPr>
              <a:t>tip provides a safe and anonymous platform for individuals to report suspicious </a:t>
            </a:r>
            <a:r>
              <a:rPr lang="en-US" dirty="0" smtClean="0">
                <a:latin typeface="Times New Roman" panose="02020603050405020304" pitchFamily="18" charset="0"/>
                <a:cs typeface="Times New Roman" panose="02020603050405020304" pitchFamily="18" charset="0"/>
              </a:rPr>
              <a:t>criminal                                                                                                                                                                                                                                                                                                                                              activities </a:t>
            </a:r>
            <a:r>
              <a:rPr lang="en-US" dirty="0">
                <a:latin typeface="Times New Roman" panose="02020603050405020304" pitchFamily="18" charset="0"/>
                <a:cs typeface="Times New Roman" panose="02020603050405020304" pitchFamily="18" charset="0"/>
              </a:rPr>
              <a:t>without fear of retaliation, ensuring user confidentiality through Encryption and </a:t>
            </a:r>
            <a:r>
              <a:rPr lang="en-US" dirty="0" err="1">
                <a:latin typeface="Times New Roman" panose="02020603050405020304" pitchFamily="18" charset="0"/>
                <a:cs typeface="Times New Roman" panose="02020603050405020304" pitchFamily="18" charset="0"/>
              </a:rPr>
              <a:t>Blockchain</a:t>
            </a:r>
            <a:r>
              <a:rPr lang="en-US" dirty="0">
                <a:latin typeface="Times New Roman" panose="02020603050405020304" pitchFamily="18" charset="0"/>
                <a:cs typeface="Times New Roman" panose="02020603050405020304" pitchFamily="18" charset="0"/>
              </a:rPr>
              <a:t> technology</a:t>
            </a:r>
            <a:r>
              <a:rPr lang="en-US" dirty="0" smtClean="0">
                <a:latin typeface="Times New Roman" panose="02020603050405020304" pitchFamily="18" charset="0"/>
                <a:cs typeface="Times New Roman" panose="02020603050405020304" pitchFamily="18" charset="0"/>
              </a:rPr>
              <a:t>.</a:t>
            </a:r>
          </a:p>
          <a:p>
            <a:pPr>
              <a:lnSpc>
                <a:spcPct val="100000"/>
              </a:lnSpc>
              <a:buClr>
                <a:schemeClr val="tx1"/>
              </a:buClr>
              <a:buSzPct val="100000"/>
            </a:pPr>
            <a:endParaRPr lang="en-US" dirty="0">
              <a:latin typeface="Times New Roman" panose="02020603050405020304" pitchFamily="18" charset="0"/>
              <a:cs typeface="Times New Roman" panose="02020603050405020304" pitchFamily="18" charset="0"/>
            </a:endParaRPr>
          </a:p>
          <a:p>
            <a:pPr marL="285750" indent="-285750">
              <a:lnSpc>
                <a:spcPct val="100000"/>
              </a:lnSpc>
              <a:buClr>
                <a:schemeClr val="tx1"/>
              </a:buClr>
              <a:buSzPct val="1000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system uses </a:t>
            </a:r>
            <a:r>
              <a:rPr lang="en-US" b="1" dirty="0">
                <a:latin typeface="Times New Roman" panose="02020603050405020304" pitchFamily="18" charset="0"/>
                <a:cs typeface="Times New Roman" panose="02020603050405020304" pitchFamily="18" charset="0"/>
              </a:rPr>
              <a:t>AES encryption</a:t>
            </a:r>
            <a:r>
              <a:rPr lang="en-US" dirty="0">
                <a:latin typeface="Times New Roman" panose="02020603050405020304" pitchFamily="18" charset="0"/>
                <a:cs typeface="Times New Roman" panose="02020603050405020304" pitchFamily="18" charset="0"/>
              </a:rPr>
              <a:t> to securely protect communication between the user and server. </a:t>
            </a:r>
            <a:r>
              <a:rPr lang="en-US" b="1" dirty="0" err="1">
                <a:latin typeface="Times New Roman" panose="02020603050405020304" pitchFamily="18" charset="0"/>
                <a:cs typeface="Times New Roman" panose="02020603050405020304" pitchFamily="18" charset="0"/>
              </a:rPr>
              <a:t>Blockchain</a:t>
            </a:r>
            <a:r>
              <a:rPr lang="en-US" dirty="0">
                <a:latin typeface="Times New Roman" panose="02020603050405020304" pitchFamily="18" charset="0"/>
                <a:cs typeface="Times New Roman" panose="02020603050405020304" pitchFamily="18" charset="0"/>
              </a:rPr>
              <a:t> ensures data cannot be tampered with once it's recorded. </a:t>
            </a:r>
            <a:r>
              <a:rPr lang="en-US" b="1" dirty="0">
                <a:latin typeface="Times New Roman" panose="02020603050405020304" pitchFamily="18" charset="0"/>
                <a:cs typeface="Times New Roman" panose="02020603050405020304" pitchFamily="18" charset="0"/>
              </a:rPr>
              <a:t>IPFS</a:t>
            </a:r>
            <a:r>
              <a:rPr lang="en-US" dirty="0">
                <a:latin typeface="Times New Roman" panose="02020603050405020304" pitchFamily="18" charset="0"/>
                <a:cs typeface="Times New Roman" panose="02020603050405020304" pitchFamily="18" charset="0"/>
              </a:rPr>
              <a:t> safely stores multimedia files and maintains their integrity and confidentiality</a:t>
            </a:r>
            <a:r>
              <a:rPr lang="en-US" dirty="0" smtClean="0">
                <a:latin typeface="Times New Roman" panose="02020603050405020304" pitchFamily="18" charset="0"/>
                <a:cs typeface="Times New Roman" panose="02020603050405020304" pitchFamily="18" charset="0"/>
              </a:rPr>
              <a:t>.</a:t>
            </a:r>
          </a:p>
          <a:p>
            <a:pPr>
              <a:lnSpc>
                <a:spcPct val="100000"/>
              </a:lnSpc>
              <a:buClr>
                <a:schemeClr val="tx1"/>
              </a:buClr>
              <a:buSzPct val="100000"/>
            </a:pPr>
            <a:endParaRPr lang="en-US" dirty="0">
              <a:latin typeface="Times New Roman" panose="02020603050405020304" pitchFamily="18" charset="0"/>
              <a:cs typeface="Times New Roman" panose="02020603050405020304" pitchFamily="18" charset="0"/>
            </a:endParaRPr>
          </a:p>
          <a:p>
            <a:pPr marL="285750" indent="-285750">
              <a:lnSpc>
                <a:spcPct val="100000"/>
              </a:lnSpc>
              <a:buClr>
                <a:schemeClr val="tx1"/>
              </a:buClr>
              <a:buSzPct val="1000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system uses </a:t>
            </a:r>
            <a:r>
              <a:rPr lang="en-US" b="1" dirty="0">
                <a:latin typeface="Times New Roman" panose="02020603050405020304" pitchFamily="18" charset="0"/>
                <a:cs typeface="Times New Roman" panose="02020603050405020304" pitchFamily="18" charset="0"/>
              </a:rPr>
              <a:t>Django</a:t>
            </a:r>
            <a:r>
              <a:rPr lang="en-US" dirty="0">
                <a:latin typeface="Times New Roman" panose="02020603050405020304" pitchFamily="18" charset="0"/>
                <a:cs typeface="Times New Roman" panose="02020603050405020304" pitchFamily="18" charset="0"/>
              </a:rPr>
              <a:t> to create an easy-to-use interface. It helps with smooth data handling, balancing the system's workload, and organizing reports</a:t>
            </a:r>
            <a:r>
              <a:rPr lang="en-US" dirty="0" smtClean="0">
                <a:latin typeface="Times New Roman" panose="02020603050405020304" pitchFamily="18" charset="0"/>
                <a:cs typeface="Times New Roman" panose="02020603050405020304" pitchFamily="18" charset="0"/>
              </a:rPr>
              <a:t>.</a:t>
            </a:r>
          </a:p>
          <a:p>
            <a:pPr>
              <a:lnSpc>
                <a:spcPct val="100000"/>
              </a:lnSpc>
              <a:buClr>
                <a:schemeClr val="tx1"/>
              </a:buClr>
              <a:buSzPct val="100000"/>
            </a:pPr>
            <a:endParaRPr lang="en-US" dirty="0">
              <a:latin typeface="Times New Roman" panose="02020603050405020304" pitchFamily="18" charset="0"/>
              <a:cs typeface="Times New Roman" panose="02020603050405020304" pitchFamily="18" charset="0"/>
            </a:endParaRPr>
          </a:p>
          <a:p>
            <a:pPr marL="285750" indent="-285750">
              <a:lnSpc>
                <a:spcPct val="100000"/>
              </a:lnSpc>
              <a:buClr>
                <a:schemeClr val="tx1"/>
              </a:buClr>
              <a:buSzPct val="10000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Law enforcement can use an interactive dashboard to view anonymized user lists, multimedia evidence, and train machine learning models. This helps them investigate cases quickly and prevent crimes before they </a:t>
            </a:r>
            <a:r>
              <a:rPr lang="en-US" dirty="0" smtClean="0">
                <a:latin typeface="Times New Roman" panose="02020603050405020304" pitchFamily="18" charset="0"/>
                <a:cs typeface="Times New Roman" panose="02020603050405020304" pitchFamily="18" charset="0"/>
              </a:rPr>
              <a:t>happen.</a:t>
            </a:r>
          </a:p>
          <a:p>
            <a:pPr marL="285750" indent="-285750">
              <a:lnSpc>
                <a:spcPct val="100000"/>
              </a:lnSpc>
              <a:buClr>
                <a:schemeClr val="tx1"/>
              </a:buClr>
              <a:buSzPct val="100000"/>
              <a:buFont typeface="Wingdings" panose="05000000000000000000" pitchFamily="2" charset="2"/>
              <a:buChar char="Ø"/>
            </a:pPr>
            <a:endParaRPr lang="en-US" b="1" dirty="0">
              <a:latin typeface="Times New Roman" panose="02020603050405020304" pitchFamily="18" charset="0"/>
              <a:cs typeface="Times New Roman" panose="02020603050405020304" pitchFamily="18" charset="0"/>
            </a:endParaRPr>
          </a:p>
          <a:p>
            <a:pPr marL="285750" indent="-285750">
              <a:lnSpc>
                <a:spcPct val="100000"/>
              </a:lnSpc>
              <a:buClr>
                <a:schemeClr val="tx1"/>
              </a:buClr>
              <a:buSzPct val="100000"/>
              <a:buFont typeface="Wingdings" panose="05000000000000000000" pitchFamily="2" charset="2"/>
              <a:buChar char="Ø"/>
            </a:pPr>
            <a:r>
              <a:rPr lang="en-US" b="1" dirty="0" smtClean="0">
                <a:latin typeface="Times New Roman" panose="02020603050405020304" pitchFamily="18" charset="0"/>
                <a:cs typeface="Times New Roman" panose="02020603050405020304" pitchFamily="18" charset="0"/>
              </a:rPr>
              <a:t>Ganache</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 </a:t>
            </a:r>
            <a:r>
              <a:rPr lang="en-US" b="1" dirty="0" err="1">
                <a:latin typeface="Times New Roman" panose="02020603050405020304" pitchFamily="18" charset="0"/>
                <a:cs typeface="Times New Roman" panose="02020603050405020304" pitchFamily="18" charset="0"/>
              </a:rPr>
              <a:t>Metamask</a:t>
            </a:r>
            <a:r>
              <a:rPr lang="en-US" dirty="0">
                <a:latin typeface="Times New Roman" panose="02020603050405020304" pitchFamily="18" charset="0"/>
                <a:cs typeface="Times New Roman" panose="02020603050405020304" pitchFamily="18" charset="0"/>
              </a:rPr>
              <a:t> improves the connection with the </a:t>
            </a:r>
            <a:r>
              <a:rPr lang="en-US" dirty="0" err="1">
                <a:latin typeface="Times New Roman" panose="02020603050405020304" pitchFamily="18" charset="0"/>
                <a:cs typeface="Times New Roman" panose="02020603050405020304" pitchFamily="18" charset="0"/>
              </a:rPr>
              <a:t>Blockchain</a:t>
            </a:r>
            <a:r>
              <a:rPr lang="en-US" dirty="0">
                <a:latin typeface="Times New Roman" panose="02020603050405020304" pitchFamily="18" charset="0"/>
                <a:cs typeface="Times New Roman" panose="02020603050405020304" pitchFamily="18" charset="0"/>
              </a:rPr>
              <a:t>. They make transactions secure, efficient, and easy to manage.</a:t>
            </a:r>
          </a:p>
        </p:txBody>
      </p:sp>
      <p:sp>
        <p:nvSpPr>
          <p:cNvPr id="10" name="Slide Number Placeholder 9">
            <a:extLst>
              <a:ext uri="{FF2B5EF4-FFF2-40B4-BE49-F238E27FC236}">
                <a16:creationId xmlns:a16="http://schemas.microsoft.com/office/drawing/2014/main" xmlns="" id="{ABDBA41D-7C85-71C4-EE9B-10795C571027}"/>
              </a:ext>
            </a:extLst>
          </p:cNvPr>
          <p:cNvSpPr>
            <a:spLocks noGrp="1"/>
          </p:cNvSpPr>
          <p:nvPr>
            <p:ph type="sldNum" sz="quarter" idx="12"/>
          </p:nvPr>
        </p:nvSpPr>
        <p:spPr/>
        <p:txBody>
          <a:bodyPr/>
          <a:lstStyle/>
          <a:p>
            <a:fld id="{249020A1-FA28-4834-83A8-C0CE35CB1668}" type="slidenum">
              <a:rPr lang="en-IN" sz="1600" b="1" smtClean="0"/>
              <a:pPr/>
              <a:t>3</a:t>
            </a:fld>
            <a:endParaRPr lang="en-IN" sz="1600" b="1" dirty="0"/>
          </a:p>
        </p:txBody>
      </p:sp>
    </p:spTree>
    <p:extLst>
      <p:ext uri="{BB962C8B-B14F-4D97-AF65-F5344CB8AC3E}">
        <p14:creationId xmlns:p14="http://schemas.microsoft.com/office/powerpoint/2010/main" val="1593843620"/>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22C11D4-C070-53FC-82DA-F053A93A3B61}"/>
              </a:ext>
            </a:extLst>
          </p:cNvPr>
          <p:cNvSpPr>
            <a:spLocks noGrp="1"/>
          </p:cNvSpPr>
          <p:nvPr>
            <p:ph type="title"/>
          </p:nvPr>
        </p:nvSpPr>
        <p:spPr>
          <a:xfrm>
            <a:off x="838200" y="335247"/>
            <a:ext cx="10515600" cy="944914"/>
          </a:xfrm>
        </p:spPr>
        <p:txBody>
          <a:bodyPr>
            <a:normAutofit/>
          </a:bodyPr>
          <a:lstStyle/>
          <a:p>
            <a:pPr algn="ctr"/>
            <a:r>
              <a:rPr lang="en-US" sz="6000" b="1" dirty="0" smtClean="0">
                <a:latin typeface="Times New Roman" panose="02020603050405020304" pitchFamily="18" charset="0"/>
                <a:cs typeface="Times New Roman" panose="02020603050405020304" pitchFamily="18" charset="0"/>
              </a:rPr>
              <a:t>OBJECTIVES</a:t>
            </a:r>
            <a:endParaRPr lang="en-IN" sz="6000"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xmlns="" id="{52DA570A-F565-634E-BE1C-8EF34ABA571E}"/>
              </a:ext>
            </a:extLst>
          </p:cNvPr>
          <p:cNvSpPr>
            <a:spLocks noGrp="1"/>
          </p:cNvSpPr>
          <p:nvPr>
            <p:ph type="sldNum" sz="quarter" idx="12"/>
          </p:nvPr>
        </p:nvSpPr>
        <p:spPr/>
        <p:txBody>
          <a:bodyPr/>
          <a:lstStyle/>
          <a:p>
            <a:fld id="{249020A1-FA28-4834-83A8-C0CE35CB1668}" type="slidenum">
              <a:rPr lang="en-IN" smtClean="0"/>
              <a:pPr/>
              <a:t>4</a:t>
            </a:fld>
            <a:endParaRPr lang="en-IN"/>
          </a:p>
        </p:txBody>
      </p:sp>
      <p:sp>
        <p:nvSpPr>
          <p:cNvPr id="5" name="TextBox 4">
            <a:extLst>
              <a:ext uri="{FF2B5EF4-FFF2-40B4-BE49-F238E27FC236}">
                <a16:creationId xmlns:a16="http://schemas.microsoft.com/office/drawing/2014/main" xmlns="" id="{556B00AF-B66F-EEB7-F443-84F706E06CE1}"/>
              </a:ext>
            </a:extLst>
          </p:cNvPr>
          <p:cNvSpPr txBox="1"/>
          <p:nvPr/>
        </p:nvSpPr>
        <p:spPr>
          <a:xfrm>
            <a:off x="838200" y="1820316"/>
            <a:ext cx="10515600" cy="4093428"/>
          </a:xfrm>
          <a:prstGeom prst="rect">
            <a:avLst/>
          </a:prstGeom>
          <a:noFill/>
        </p:spPr>
        <p:txBody>
          <a:bodyPr wrap="square">
            <a:spAutoFit/>
          </a:bodyPr>
          <a:lstStyle/>
          <a:p>
            <a:pPr marL="285750" indent="-285750">
              <a:lnSpc>
                <a:spcPct val="1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objective of the project is to enhance security, </a:t>
            </a:r>
            <a:r>
              <a:rPr lang="en-IN" sz="2000" dirty="0">
                <a:latin typeface="Times New Roman" panose="02020603050405020304" pitchFamily="18" charset="0"/>
                <a:cs typeface="Times New Roman" panose="02020603050405020304" pitchFamily="18" charset="0"/>
              </a:rPr>
              <a:t>faster, and more trustworthy</a:t>
            </a:r>
            <a:r>
              <a:rPr lang="en-US" sz="2000" dirty="0">
                <a:latin typeface="Times New Roman" panose="02020603050405020304" pitchFamily="18" charset="0"/>
                <a:cs typeface="Times New Roman" panose="02020603050405020304" pitchFamily="18" charset="0"/>
              </a:rPr>
              <a:t> to report suspicious activities to crime </a:t>
            </a:r>
            <a:r>
              <a:rPr lang="en-US" sz="2000" dirty="0" smtClean="0">
                <a:latin typeface="Times New Roman" panose="02020603050405020304" pitchFamily="18" charset="0"/>
                <a:cs typeface="Times New Roman" panose="02020603050405020304" pitchFamily="18" charset="0"/>
              </a:rPr>
              <a:t>authorities.</a:t>
            </a:r>
          </a:p>
          <a:p>
            <a:pPr marL="285750" indent="-285750">
              <a:lnSpc>
                <a:spcPct val="10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Implementing </a:t>
            </a:r>
            <a:r>
              <a:rPr lang="en-US" sz="2000" b="1" dirty="0">
                <a:latin typeface="Times New Roman" panose="02020603050405020304" pitchFamily="18" charset="0"/>
                <a:cs typeface="Times New Roman" panose="02020603050405020304" pitchFamily="18" charset="0"/>
              </a:rPr>
              <a:t>AES Encryption </a:t>
            </a:r>
            <a:r>
              <a:rPr lang="en-US" sz="2000" dirty="0">
                <a:latin typeface="Times New Roman" panose="02020603050405020304" pitchFamily="18" charset="0"/>
                <a:cs typeface="Times New Roman" panose="02020603050405020304" pitchFamily="18" charset="0"/>
              </a:rPr>
              <a:t>to keep the identity of the person hidden and ensure secure transmission of </a:t>
            </a:r>
            <a:r>
              <a:rPr lang="en-US" sz="2000" dirty="0" smtClean="0">
                <a:latin typeface="Times New Roman" panose="02020603050405020304" pitchFamily="18" charset="0"/>
                <a:cs typeface="Times New Roman" panose="02020603050405020304" pitchFamily="18" charset="0"/>
              </a:rPr>
              <a:t>information.</a:t>
            </a:r>
          </a:p>
          <a:p>
            <a:pPr marL="285750" indent="-285750">
              <a:lnSpc>
                <a:spcPct val="10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Utilizing </a:t>
            </a:r>
            <a:r>
              <a:rPr lang="en-US" sz="2000" dirty="0" err="1">
                <a:latin typeface="Times New Roman" panose="02020603050405020304" pitchFamily="18" charset="0"/>
                <a:cs typeface="Times New Roman" panose="02020603050405020304" pitchFamily="18" charset="0"/>
              </a:rPr>
              <a:t>blockchain</a:t>
            </a:r>
            <a:r>
              <a:rPr lang="en-US" sz="2000" dirty="0">
                <a:latin typeface="Times New Roman" panose="02020603050405020304" pitchFamily="18" charset="0"/>
                <a:cs typeface="Times New Roman" panose="02020603050405020304" pitchFamily="18" charset="0"/>
              </a:rPr>
              <a:t> to store the tips on a </a:t>
            </a:r>
            <a:r>
              <a:rPr lang="en-US" sz="2000" dirty="0" err="1">
                <a:latin typeface="Times New Roman" panose="02020603050405020304" pitchFamily="18" charset="0"/>
                <a:cs typeface="Times New Roman" panose="02020603050405020304" pitchFamily="18" charset="0"/>
              </a:rPr>
              <a:t>blockchain</a:t>
            </a:r>
            <a:r>
              <a:rPr lang="en-US" sz="2000" dirty="0">
                <a:latin typeface="Times New Roman" panose="02020603050405020304" pitchFamily="18" charset="0"/>
                <a:cs typeface="Times New Roman" panose="02020603050405020304" pitchFamily="18" charset="0"/>
              </a:rPr>
              <a:t>, so no one can change them, ensuring that the information stays accurate and </a:t>
            </a:r>
            <a:r>
              <a:rPr lang="en-US" sz="2000" dirty="0" smtClean="0">
                <a:latin typeface="Times New Roman" panose="02020603050405020304" pitchFamily="18" charset="0"/>
                <a:cs typeface="Times New Roman" panose="02020603050405020304" pitchFamily="18" charset="0"/>
              </a:rPr>
              <a:t>trustworthy.</a:t>
            </a:r>
          </a:p>
          <a:p>
            <a:pPr marL="285750" indent="-285750">
              <a:lnSpc>
                <a:spcPct val="10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Integrating </a:t>
            </a:r>
            <a:r>
              <a:rPr lang="en-US" sz="2000" b="1" dirty="0" err="1">
                <a:latin typeface="Times New Roman" panose="02020603050405020304" pitchFamily="18" charset="0"/>
                <a:cs typeface="Times New Roman" panose="02020603050405020304" pitchFamily="18" charset="0"/>
              </a:rPr>
              <a:t>Tensorflow</a:t>
            </a:r>
            <a:r>
              <a:rPr lang="en-US" sz="2000" b="1" dirty="0">
                <a:latin typeface="Times New Roman" panose="02020603050405020304" pitchFamily="18" charset="0"/>
                <a:cs typeface="Times New Roman" panose="02020603050405020304" pitchFamily="18" charset="0"/>
              </a:rPr>
              <a:t> CNN</a:t>
            </a:r>
            <a:r>
              <a:rPr lang="en-US" sz="2000" dirty="0">
                <a:latin typeface="Times New Roman" panose="02020603050405020304" pitchFamily="18" charset="0"/>
                <a:cs typeface="Times New Roman" panose="02020603050405020304" pitchFamily="18" charset="0"/>
              </a:rPr>
              <a:t> to automatically check if the information provided is </a:t>
            </a:r>
            <a:r>
              <a:rPr lang="en-US" sz="2000" dirty="0" smtClean="0">
                <a:latin typeface="Times New Roman" panose="02020603050405020304" pitchFamily="18" charset="0"/>
                <a:cs typeface="Times New Roman" panose="02020603050405020304" pitchFamily="18" charset="0"/>
              </a:rPr>
              <a:t>true.</a:t>
            </a:r>
          </a:p>
          <a:p>
            <a:pPr marL="285750" indent="-285750">
              <a:lnSpc>
                <a:spcPct val="10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Employing </a:t>
            </a:r>
            <a:r>
              <a:rPr lang="en-US" sz="2000" b="1" dirty="0">
                <a:latin typeface="Times New Roman" panose="02020603050405020304" pitchFamily="18" charset="0"/>
                <a:cs typeface="Times New Roman" panose="02020603050405020304" pitchFamily="18" charset="0"/>
              </a:rPr>
              <a:t>IPFS</a:t>
            </a:r>
            <a:r>
              <a:rPr lang="en-US" sz="2000" dirty="0">
                <a:latin typeface="Times New Roman" panose="02020603050405020304" pitchFamily="18" charset="0"/>
                <a:cs typeface="Times New Roman" panose="02020603050405020304" pitchFamily="18" charset="0"/>
              </a:rPr>
              <a:t> for a system to store things like images or videos linked to the tips, making sure they are easy to access. </a:t>
            </a:r>
          </a:p>
        </p:txBody>
      </p:sp>
    </p:spTree>
    <p:extLst>
      <p:ext uri="{BB962C8B-B14F-4D97-AF65-F5344CB8AC3E}">
        <p14:creationId xmlns:p14="http://schemas.microsoft.com/office/powerpoint/2010/main" val="1287910519"/>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13B055-5088-3A17-2F7D-008B2AE597A5}"/>
              </a:ext>
            </a:extLst>
          </p:cNvPr>
          <p:cNvSpPr>
            <a:spLocks noGrp="1"/>
          </p:cNvSpPr>
          <p:nvPr>
            <p:ph type="title"/>
          </p:nvPr>
        </p:nvSpPr>
        <p:spPr>
          <a:xfrm>
            <a:off x="838200" y="365126"/>
            <a:ext cx="10515600" cy="1106228"/>
          </a:xfrm>
        </p:spPr>
        <p:txBody>
          <a:bodyPr/>
          <a:lstStyle/>
          <a:p>
            <a:pPr lvl="0"/>
            <a:r>
              <a:rPr lang="en-US" dirty="0"/>
              <a:t>                   </a:t>
            </a:r>
            <a:r>
              <a:rPr lang="en-US" sz="6000" b="1" dirty="0" smtClean="0">
                <a:latin typeface="Times New Roman" panose="02020603050405020304" pitchFamily="18" charset="0"/>
                <a:cs typeface="Times New Roman" panose="02020603050405020304" pitchFamily="18" charset="0"/>
              </a:rPr>
              <a:t>INTRODUCTION </a:t>
            </a:r>
            <a:endParaRPr lang="en-US" sz="6000"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xmlns="" id="{B7722375-62FB-8D2D-E881-09D82FB2B6EF}"/>
              </a:ext>
            </a:extLst>
          </p:cNvPr>
          <p:cNvSpPr>
            <a:spLocks noGrp="1"/>
          </p:cNvSpPr>
          <p:nvPr>
            <p:ph type="sldNum" sz="quarter" idx="12"/>
          </p:nvPr>
        </p:nvSpPr>
        <p:spPr/>
        <p:txBody>
          <a:bodyPr/>
          <a:lstStyle/>
          <a:p>
            <a:fld id="{249020A1-FA28-4834-83A8-C0CE35CB1668}" type="slidenum">
              <a:rPr lang="en-IN" smtClean="0"/>
              <a:pPr/>
              <a:t>5</a:t>
            </a:fld>
            <a:endParaRPr lang="en-IN"/>
          </a:p>
        </p:txBody>
      </p:sp>
      <p:sp>
        <p:nvSpPr>
          <p:cNvPr id="5" name="TextBox 4">
            <a:extLst>
              <a:ext uri="{FF2B5EF4-FFF2-40B4-BE49-F238E27FC236}">
                <a16:creationId xmlns:a16="http://schemas.microsoft.com/office/drawing/2014/main" xmlns="" id="{D5B6FE90-E73C-790D-F178-3515F827ED2B}"/>
              </a:ext>
            </a:extLst>
          </p:cNvPr>
          <p:cNvSpPr txBox="1"/>
          <p:nvPr/>
        </p:nvSpPr>
        <p:spPr>
          <a:xfrm>
            <a:off x="838200" y="1582341"/>
            <a:ext cx="10515600" cy="4985980"/>
          </a:xfrm>
          <a:prstGeom prst="rect">
            <a:avLst/>
          </a:prstGeom>
          <a:noFill/>
        </p:spPr>
        <p:txBody>
          <a:bodyPr wrap="square">
            <a:spAutoFit/>
          </a:bodyPr>
          <a:lstStyle/>
          <a:p>
            <a:endParaRPr lang="en-US" dirty="0"/>
          </a:p>
          <a:p>
            <a:pPr marL="285750" indent="-285750">
              <a:lnSpc>
                <a:spcPct val="100000"/>
              </a:lnSpc>
              <a:buSzPct val="1000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Crime prevention heavily depend on public cooperation, but many individual hesitate to report suspicious activities due to fear and concerns over </a:t>
            </a:r>
            <a:r>
              <a:rPr lang="en-US" sz="2000" dirty="0" smtClean="0">
                <a:latin typeface="Times New Roman" panose="02020603050405020304" pitchFamily="18" charset="0"/>
                <a:cs typeface="Times New Roman" panose="02020603050405020304" pitchFamily="18" charset="0"/>
              </a:rPr>
              <a:t>security.</a:t>
            </a:r>
          </a:p>
          <a:p>
            <a:pPr marL="285750" indent="-285750">
              <a:lnSpc>
                <a:spcPct val="100000"/>
              </a:lnSpc>
              <a:buSzPct val="1000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285750" indent="-285750">
              <a:lnSpc>
                <a:spcPct val="100000"/>
              </a:lnSpc>
              <a:buSzPct val="100000"/>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Traditional </a:t>
            </a:r>
            <a:r>
              <a:rPr lang="en-US" sz="2000" dirty="0">
                <a:latin typeface="Times New Roman" panose="02020603050405020304" pitchFamily="18" charset="0"/>
                <a:cs typeface="Times New Roman" panose="02020603050405020304" pitchFamily="18" charset="0"/>
              </a:rPr>
              <a:t>ways of reporting crimes don’t keep people’s identities secret, so they are less likely to share important </a:t>
            </a:r>
            <a:r>
              <a:rPr lang="en-US" sz="2000" dirty="0" smtClean="0">
                <a:latin typeface="Times New Roman" panose="02020603050405020304" pitchFamily="18" charset="0"/>
                <a:cs typeface="Times New Roman" panose="02020603050405020304" pitchFamily="18" charset="0"/>
              </a:rPr>
              <a:t>information.</a:t>
            </a:r>
          </a:p>
          <a:p>
            <a:pPr marL="285750" indent="-285750">
              <a:lnSpc>
                <a:spcPct val="100000"/>
              </a:lnSpc>
              <a:buSzPct val="1000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285750" indent="-285750">
              <a:lnSpc>
                <a:spcPct val="100000"/>
              </a:lnSpc>
              <a:buSzPct val="100000"/>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With </a:t>
            </a:r>
            <a:r>
              <a:rPr lang="en-US" sz="2000" dirty="0">
                <a:latin typeface="Times New Roman" panose="02020603050405020304" pitchFamily="18" charset="0"/>
                <a:cs typeface="Times New Roman" panose="02020603050405020304" pitchFamily="18" charset="0"/>
              </a:rPr>
              <a:t>the rise of both cyber and physical crimes, authorities need a quick and  effective way to get and handle crime </a:t>
            </a:r>
            <a:r>
              <a:rPr lang="en-US" sz="2000" dirty="0" smtClean="0">
                <a:latin typeface="Times New Roman" panose="02020603050405020304" pitchFamily="18" charset="0"/>
                <a:cs typeface="Times New Roman" panose="02020603050405020304" pitchFamily="18" charset="0"/>
              </a:rPr>
              <a:t>reports.</a:t>
            </a:r>
          </a:p>
          <a:p>
            <a:pPr marL="285750" indent="-285750">
              <a:lnSpc>
                <a:spcPct val="100000"/>
              </a:lnSpc>
              <a:buSzPct val="1000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285750" indent="-285750">
              <a:lnSpc>
                <a:spcPct val="100000"/>
              </a:lnSpc>
              <a:buSzPct val="100000"/>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A </a:t>
            </a:r>
            <a:r>
              <a:rPr lang="en-US" sz="2000" dirty="0">
                <a:latin typeface="Times New Roman" panose="02020603050405020304" pitchFamily="18" charset="0"/>
                <a:cs typeface="Times New Roman" panose="02020603050405020304" pitchFamily="18" charset="0"/>
              </a:rPr>
              <a:t>well-organized and safe system can help authorities respond faster and more efficiently to </a:t>
            </a:r>
            <a:r>
              <a:rPr lang="en-US" sz="2000" dirty="0" smtClean="0">
                <a:latin typeface="Times New Roman" panose="02020603050405020304" pitchFamily="18" charset="0"/>
                <a:cs typeface="Times New Roman" panose="02020603050405020304" pitchFamily="18" charset="0"/>
              </a:rPr>
              <a:t>reports.</a:t>
            </a:r>
          </a:p>
          <a:p>
            <a:pPr marL="285750" indent="-285750">
              <a:lnSpc>
                <a:spcPct val="100000"/>
              </a:lnSpc>
              <a:buSzPct val="10000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285750" indent="-285750">
              <a:lnSpc>
                <a:spcPct val="100000"/>
              </a:lnSpc>
              <a:buSzPct val="100000"/>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goal of this project is to develop a secure and anonymous crime tip-off platform that enables individuals to report suspicious activities while ensuring confidentiality and data security for law enforcement.</a:t>
            </a:r>
          </a:p>
        </p:txBody>
      </p:sp>
    </p:spTree>
    <p:extLst>
      <p:ext uri="{BB962C8B-B14F-4D97-AF65-F5344CB8AC3E}">
        <p14:creationId xmlns:p14="http://schemas.microsoft.com/office/powerpoint/2010/main" val="1992783844"/>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1569DE-FD0F-A7CF-0980-60B3C027CE63}"/>
              </a:ext>
            </a:extLst>
          </p:cNvPr>
          <p:cNvSpPr>
            <a:spLocks noGrp="1"/>
          </p:cNvSpPr>
          <p:nvPr>
            <p:ph type="title"/>
          </p:nvPr>
        </p:nvSpPr>
        <p:spPr>
          <a:xfrm>
            <a:off x="838200" y="328902"/>
            <a:ext cx="10515600" cy="1125826"/>
          </a:xfrm>
        </p:spPr>
        <p:txBody>
          <a:bodyPr>
            <a:normAutofit/>
          </a:bodyPr>
          <a:lstStyle/>
          <a:p>
            <a:pPr algn="ctr"/>
            <a:r>
              <a:rPr lang="en-US" sz="6000" b="1" dirty="0" smtClean="0">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xmlns="" id="{DD9CC5F4-B314-0006-0194-7DF320E0ABB3}"/>
              </a:ext>
            </a:extLst>
          </p:cNvPr>
          <p:cNvSpPr>
            <a:spLocks noGrp="1"/>
          </p:cNvSpPr>
          <p:nvPr>
            <p:ph type="sldNum" sz="quarter" idx="12"/>
          </p:nvPr>
        </p:nvSpPr>
        <p:spPr/>
        <p:txBody>
          <a:bodyPr/>
          <a:lstStyle/>
          <a:p>
            <a:fld id="{249020A1-FA28-4834-83A8-C0CE35CB1668}" type="slidenum">
              <a:rPr lang="en-IN" smtClean="0"/>
              <a:pPr/>
              <a:t>6</a:t>
            </a:fld>
            <a:endParaRPr lang="en-IN"/>
          </a:p>
        </p:txBody>
      </p:sp>
      <p:sp>
        <p:nvSpPr>
          <p:cNvPr id="7" name="TextBox 6">
            <a:extLst>
              <a:ext uri="{FF2B5EF4-FFF2-40B4-BE49-F238E27FC236}">
                <a16:creationId xmlns:a16="http://schemas.microsoft.com/office/drawing/2014/main" xmlns="" id="{E430CAC0-9F49-35B9-C9F1-95008653F551}"/>
              </a:ext>
            </a:extLst>
          </p:cNvPr>
          <p:cNvSpPr txBox="1"/>
          <p:nvPr/>
        </p:nvSpPr>
        <p:spPr>
          <a:xfrm>
            <a:off x="838200" y="1981076"/>
            <a:ext cx="10515600" cy="4401205"/>
          </a:xfrm>
          <a:prstGeom prst="rect">
            <a:avLst/>
          </a:prstGeom>
          <a:noFill/>
        </p:spPr>
        <p:txBody>
          <a:bodyPr wrap="square">
            <a:spAutoFit/>
          </a:bodyPr>
          <a:lstStyle/>
          <a:p>
            <a:pPr marL="285750" indent="-285750">
              <a:lnSpc>
                <a:spcPct val="1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Many individuals hesitate to report crimes due to concerns over personal safety, discouraging valuable tip-offs that could aid law </a:t>
            </a:r>
            <a:r>
              <a:rPr lang="en-US" sz="2000" dirty="0" smtClean="0">
                <a:latin typeface="Times New Roman" panose="02020603050405020304" pitchFamily="18" charset="0"/>
                <a:cs typeface="Times New Roman" panose="02020603050405020304" pitchFamily="18" charset="0"/>
              </a:rPr>
              <a:t>enforcement.</a:t>
            </a:r>
          </a:p>
          <a:p>
            <a:pPr marL="285750" indent="-285750">
              <a:lnSpc>
                <a:spcPct val="10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Existing </a:t>
            </a:r>
            <a:r>
              <a:rPr lang="en-US" sz="2000" dirty="0">
                <a:latin typeface="Times New Roman" panose="02020603050405020304" pitchFamily="18" charset="0"/>
                <a:cs typeface="Times New Roman" panose="02020603050405020304" pitchFamily="18" charset="0"/>
              </a:rPr>
              <a:t>crime reporting mechanisms often lack sufficient security measures, exposing users to privacy risks and discouraging </a:t>
            </a:r>
            <a:r>
              <a:rPr lang="en-US" sz="2000" dirty="0" smtClean="0">
                <a:latin typeface="Times New Roman" panose="02020603050405020304" pitchFamily="18" charset="0"/>
                <a:cs typeface="Times New Roman" panose="02020603050405020304" pitchFamily="18" charset="0"/>
              </a:rPr>
              <a:t>participation.</a:t>
            </a:r>
          </a:p>
          <a:p>
            <a:pPr marL="285750" indent="-285750">
              <a:lnSpc>
                <a:spcPct val="10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Law </a:t>
            </a:r>
            <a:r>
              <a:rPr lang="en-US" sz="2000" dirty="0">
                <a:latin typeface="Times New Roman" panose="02020603050405020304" pitchFamily="18" charset="0"/>
                <a:cs typeface="Times New Roman" panose="02020603050405020304" pitchFamily="18" charset="0"/>
              </a:rPr>
              <a:t>enforcement agencies receive numerous tips, but without a proper system for prioritizing and verifying reports, valuable leads may be </a:t>
            </a:r>
            <a:r>
              <a:rPr lang="en-US" sz="2000" dirty="0" smtClean="0">
                <a:latin typeface="Times New Roman" panose="02020603050405020304" pitchFamily="18" charset="0"/>
                <a:cs typeface="Times New Roman" panose="02020603050405020304" pitchFamily="18" charset="0"/>
              </a:rPr>
              <a:t>overlooked.</a:t>
            </a:r>
          </a:p>
          <a:p>
            <a:pPr marL="285750" indent="-285750">
              <a:lnSpc>
                <a:spcPct val="10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Crime </a:t>
            </a:r>
            <a:r>
              <a:rPr lang="en-US" sz="2000" dirty="0">
                <a:latin typeface="Times New Roman" panose="02020603050405020304" pitchFamily="18" charset="0"/>
                <a:cs typeface="Times New Roman" panose="02020603050405020304" pitchFamily="18" charset="0"/>
              </a:rPr>
              <a:t>reporting may involve images, videos, or documents, but conventional systems often struggle with secure storage and retrieval of such </a:t>
            </a:r>
            <a:r>
              <a:rPr lang="en-US" sz="2000" dirty="0" smtClean="0">
                <a:latin typeface="Times New Roman" panose="02020603050405020304" pitchFamily="18" charset="0"/>
                <a:cs typeface="Times New Roman" panose="02020603050405020304" pitchFamily="18" charset="0"/>
              </a:rPr>
              <a:t>evidence.</a:t>
            </a:r>
          </a:p>
          <a:p>
            <a:pPr marL="285750" indent="-285750">
              <a:lnSpc>
                <a:spcPct val="10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In </a:t>
            </a:r>
            <a:r>
              <a:rPr lang="en-US" sz="2000" dirty="0">
                <a:latin typeface="Times New Roman" panose="02020603050405020304" pitchFamily="18" charset="0"/>
                <a:cs typeface="Times New Roman" panose="02020603050405020304" pitchFamily="18" charset="0"/>
              </a:rPr>
              <a:t>the absence of a tamper-proof system, crime reports may be altered, deleted, or misused, leading to loss of public trust and inefficiency in law enforcement efforts. </a:t>
            </a:r>
          </a:p>
        </p:txBody>
      </p:sp>
    </p:spTree>
    <p:extLst>
      <p:ext uri="{BB962C8B-B14F-4D97-AF65-F5344CB8AC3E}">
        <p14:creationId xmlns:p14="http://schemas.microsoft.com/office/powerpoint/2010/main" val="2194656665"/>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D0B645D-518F-2DCC-E6CF-03F85CCCA7FC}"/>
              </a:ext>
            </a:extLst>
          </p:cNvPr>
          <p:cNvSpPr>
            <a:spLocks noGrp="1"/>
          </p:cNvSpPr>
          <p:nvPr>
            <p:ph type="title"/>
          </p:nvPr>
        </p:nvSpPr>
        <p:spPr>
          <a:xfrm>
            <a:off x="1221971" y="365126"/>
            <a:ext cx="9493134" cy="998162"/>
          </a:xfrm>
        </p:spPr>
        <p:txBody>
          <a:bodyPr>
            <a:normAutofit/>
          </a:bodyPr>
          <a:lstStyle/>
          <a:p>
            <a:pPr algn="ctr"/>
            <a:r>
              <a:rPr lang="en-US" sz="6000" b="1" dirty="0" smtClean="0">
                <a:latin typeface="Times New Roman" panose="02020603050405020304" pitchFamily="18" charset="0"/>
                <a:cs typeface="Times New Roman" panose="02020603050405020304" pitchFamily="18" charset="0"/>
              </a:rPr>
              <a:t>EXISTING SYSTEM</a:t>
            </a:r>
            <a:endParaRPr lang="en-IN"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xmlns="" id="{09E72FE4-8118-7541-2D7F-9103C952234D}"/>
              </a:ext>
            </a:extLst>
          </p:cNvPr>
          <p:cNvSpPr>
            <a:spLocks noGrp="1"/>
          </p:cNvSpPr>
          <p:nvPr>
            <p:ph type="sldNum" sz="quarter" idx="12"/>
          </p:nvPr>
        </p:nvSpPr>
        <p:spPr/>
        <p:txBody>
          <a:bodyPr/>
          <a:lstStyle/>
          <a:p>
            <a:fld id="{249020A1-FA28-4834-83A8-C0CE35CB1668}" type="slidenum">
              <a:rPr lang="en-IN" smtClean="0"/>
              <a:pPr/>
              <a:t>7</a:t>
            </a:fld>
            <a:endParaRPr lang="en-IN"/>
          </a:p>
        </p:txBody>
      </p:sp>
      <p:sp>
        <p:nvSpPr>
          <p:cNvPr id="5" name="TextBox 4">
            <a:extLst>
              <a:ext uri="{FF2B5EF4-FFF2-40B4-BE49-F238E27FC236}">
                <a16:creationId xmlns:a16="http://schemas.microsoft.com/office/drawing/2014/main" xmlns="" id="{A8515464-B599-B6C9-CC1F-8A98CF8A13FC}"/>
              </a:ext>
            </a:extLst>
          </p:cNvPr>
          <p:cNvSpPr txBox="1"/>
          <p:nvPr/>
        </p:nvSpPr>
        <p:spPr>
          <a:xfrm>
            <a:off x="1221970" y="2153980"/>
            <a:ext cx="9493135" cy="3477875"/>
          </a:xfrm>
          <a:prstGeom prst="rect">
            <a:avLst/>
          </a:prstGeom>
          <a:noFill/>
        </p:spPr>
        <p:txBody>
          <a:bodyPr wrap="square">
            <a:spAutoFit/>
          </a:bodyPr>
          <a:lstStyle/>
          <a:p>
            <a:pPr>
              <a:lnSpc>
                <a:spcPct val="100000"/>
              </a:lnSpc>
              <a:buNone/>
            </a:pPr>
            <a:r>
              <a:rPr lang="en-US" sz="2200" dirty="0">
                <a:latin typeface="Times New Roman" panose="02020603050405020304" pitchFamily="18" charset="0"/>
                <a:cs typeface="Times New Roman" panose="02020603050405020304" pitchFamily="18" charset="0"/>
              </a:rPr>
              <a:t>Most surveillance systems today depend on people watching video feeds, which takes a lot of time and can lead to mistakes—especially because suspicious events are rare and there's a huge amount of footage to review. Also, many reporting tools don’t let people stay anonymous, so they’re afraid to speak up in case they get in trouble. The way the data is stored isn't very secure either—it's kept in one place, which makes it easier for someone to change, steal, or delete it. Reports are often handled manually, which means police or authorities have to spend a lot of time checking and sorting them. And finally, these systems often don’t support images or videos properly, or they don’t store them safely, which makes solving crimes harder.</a:t>
            </a:r>
          </a:p>
        </p:txBody>
      </p:sp>
    </p:spTree>
    <p:extLst>
      <p:ext uri="{BB962C8B-B14F-4D97-AF65-F5344CB8AC3E}">
        <p14:creationId xmlns:p14="http://schemas.microsoft.com/office/powerpoint/2010/main" val="2120322409"/>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1E4414-E6EB-3229-BA9B-BC4BC02899A8}"/>
              </a:ext>
            </a:extLst>
          </p:cNvPr>
          <p:cNvSpPr>
            <a:spLocks noGrp="1"/>
          </p:cNvSpPr>
          <p:nvPr>
            <p:ph type="title"/>
          </p:nvPr>
        </p:nvSpPr>
        <p:spPr>
          <a:xfrm>
            <a:off x="1213660" y="365125"/>
            <a:ext cx="9742516" cy="1325563"/>
          </a:xfrm>
        </p:spPr>
        <p:txBody>
          <a:bodyPr>
            <a:normAutofit/>
          </a:bodyPr>
          <a:lstStyle/>
          <a:p>
            <a:pPr algn="ctr"/>
            <a:r>
              <a:rPr lang="en-US" b="1" dirty="0"/>
              <a:t>   </a:t>
            </a:r>
            <a:r>
              <a:rPr lang="en-US" sz="6000" b="1" dirty="0">
                <a:latin typeface="Times New Roman" panose="02020603050405020304" pitchFamily="18" charset="0"/>
                <a:cs typeface="Times New Roman" panose="02020603050405020304" pitchFamily="18" charset="0"/>
              </a:rPr>
              <a:t>PROPOSED </a:t>
            </a:r>
            <a:r>
              <a:rPr lang="en-US" sz="6000" b="1" dirty="0" smtClean="0">
                <a:latin typeface="Times New Roman" panose="02020603050405020304" pitchFamily="18" charset="0"/>
                <a:cs typeface="Times New Roman" panose="02020603050405020304" pitchFamily="18" charset="0"/>
              </a:rPr>
              <a:t>SYSTEM</a:t>
            </a:r>
            <a:endParaRPr lang="en-IN"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xmlns="" id="{049CCA57-95B6-ED11-0BF3-2BEC143D8186}"/>
              </a:ext>
            </a:extLst>
          </p:cNvPr>
          <p:cNvSpPr>
            <a:spLocks noGrp="1"/>
          </p:cNvSpPr>
          <p:nvPr>
            <p:ph type="sldNum" sz="quarter" idx="12"/>
          </p:nvPr>
        </p:nvSpPr>
        <p:spPr/>
        <p:txBody>
          <a:bodyPr/>
          <a:lstStyle/>
          <a:p>
            <a:fld id="{249020A1-FA28-4834-83A8-C0CE35CB1668}" type="slidenum">
              <a:rPr lang="en-IN" smtClean="0"/>
              <a:pPr/>
              <a:t>8</a:t>
            </a:fld>
            <a:endParaRPr lang="en-IN"/>
          </a:p>
        </p:txBody>
      </p:sp>
      <p:sp>
        <p:nvSpPr>
          <p:cNvPr id="5" name="TextBox 4">
            <a:extLst>
              <a:ext uri="{FF2B5EF4-FFF2-40B4-BE49-F238E27FC236}">
                <a16:creationId xmlns:a16="http://schemas.microsoft.com/office/drawing/2014/main" xmlns="" id="{27171C1F-F33A-E4B1-4BD6-D05F19454731}"/>
              </a:ext>
            </a:extLst>
          </p:cNvPr>
          <p:cNvSpPr txBox="1"/>
          <p:nvPr/>
        </p:nvSpPr>
        <p:spPr>
          <a:xfrm>
            <a:off x="1213659" y="1912033"/>
            <a:ext cx="9742516" cy="4093428"/>
          </a:xfrm>
          <a:prstGeom prst="rect">
            <a:avLst/>
          </a:prstGeom>
          <a:noFill/>
        </p:spPr>
        <p:txBody>
          <a:bodyPr wrap="square">
            <a:spAutoFit/>
          </a:bodyPr>
          <a:lstStyle/>
          <a:p>
            <a:pPr>
              <a:lnSpc>
                <a:spcPct val="100000"/>
              </a:lnSpc>
              <a:buNone/>
            </a:pPr>
            <a:r>
              <a:rPr lang="en-US" sz="2000" dirty="0">
                <a:latin typeface="Times New Roman" panose="02020603050405020304" pitchFamily="18" charset="0"/>
                <a:cs typeface="Times New Roman" panose="02020603050405020304" pitchFamily="18" charset="0"/>
              </a:rPr>
              <a:t>The proposed system offers a secure and anonymous platform for witnesses to report suspicious activities to crime authorities, ensuring confidentiality, integrity, and accuracy of information. It employs </a:t>
            </a:r>
            <a:r>
              <a:rPr lang="en-US" sz="2000" b="1" dirty="0">
                <a:latin typeface="Times New Roman" panose="02020603050405020304" pitchFamily="18" charset="0"/>
                <a:cs typeface="Times New Roman" panose="02020603050405020304" pitchFamily="18" charset="0"/>
              </a:rPr>
              <a:t>AES encryption</a:t>
            </a:r>
            <a:r>
              <a:rPr lang="en-US" sz="2000" dirty="0">
                <a:latin typeface="Times New Roman" panose="02020603050405020304" pitchFamily="18" charset="0"/>
                <a:cs typeface="Times New Roman" panose="02020603050405020304" pitchFamily="18" charset="0"/>
              </a:rPr>
              <a:t> to protect user-server communication, preventing unauthorized access or data interception. </a:t>
            </a:r>
            <a:r>
              <a:rPr lang="en-US" sz="2000" b="1" dirty="0" err="1">
                <a:latin typeface="Times New Roman" panose="02020603050405020304" pitchFamily="18" charset="0"/>
                <a:cs typeface="Times New Roman" panose="02020603050405020304" pitchFamily="18" charset="0"/>
              </a:rPr>
              <a:t>Blockchain</a:t>
            </a:r>
            <a:r>
              <a:rPr lang="en-US" sz="2000" b="1" dirty="0">
                <a:latin typeface="Times New Roman" panose="02020603050405020304" pitchFamily="18" charset="0"/>
                <a:cs typeface="Times New Roman" panose="02020603050405020304" pitchFamily="18" charset="0"/>
              </a:rPr>
              <a:t> technology</a:t>
            </a:r>
            <a:r>
              <a:rPr lang="en-US" sz="2000" dirty="0">
                <a:latin typeface="Times New Roman" panose="02020603050405020304" pitchFamily="18" charset="0"/>
                <a:cs typeface="Times New Roman" panose="02020603050405020304" pitchFamily="18" charset="0"/>
              </a:rPr>
              <a:t>, specifically </a:t>
            </a:r>
            <a:r>
              <a:rPr lang="en-US" sz="2000" b="1" dirty="0" err="1">
                <a:latin typeface="Times New Roman" panose="02020603050405020304" pitchFamily="18" charset="0"/>
                <a:cs typeface="Times New Roman" panose="02020603050405020304" pitchFamily="18" charset="0"/>
              </a:rPr>
              <a:t>Ethereum</a:t>
            </a:r>
            <a:r>
              <a:rPr lang="en-US" sz="2000" dirty="0">
                <a:latin typeface="Times New Roman" panose="02020603050405020304" pitchFamily="18" charset="0"/>
                <a:cs typeface="Times New Roman" panose="02020603050405020304" pitchFamily="18" charset="0"/>
              </a:rPr>
              <a:t>, is integrated to store crime reports as immutable records using smart contracts, ensuring data integrity and preventing tampering. </a:t>
            </a:r>
            <a:r>
              <a:rPr lang="en-US" sz="2000" dirty="0" err="1">
                <a:latin typeface="Times New Roman" panose="02020603050405020304" pitchFamily="18" charset="0"/>
                <a:cs typeface="Times New Roman" panose="02020603050405020304" pitchFamily="18" charset="0"/>
              </a:rPr>
              <a:t>Blockchain</a:t>
            </a:r>
            <a:r>
              <a:rPr lang="en-US" sz="2000" dirty="0">
                <a:latin typeface="Times New Roman" panose="02020603050405020304" pitchFamily="18" charset="0"/>
                <a:cs typeface="Times New Roman" panose="02020603050405020304" pitchFamily="18" charset="0"/>
              </a:rPr>
              <a:t> is a decentralized ledger that securely records transactions, making it ideal for maintaining trust in crime reporting. </a:t>
            </a:r>
            <a:endParaRPr lang="en-US" sz="2000" dirty="0" smtClean="0">
              <a:latin typeface="Times New Roman" panose="02020603050405020304" pitchFamily="18" charset="0"/>
              <a:cs typeface="Times New Roman" panose="02020603050405020304" pitchFamily="18" charset="0"/>
            </a:endParaRPr>
          </a:p>
          <a:p>
            <a:pPr>
              <a:lnSpc>
                <a:spcPct val="100000"/>
              </a:lnSpc>
              <a:buNone/>
            </a:pPr>
            <a:endParaRPr lang="en-US" sz="2000" dirty="0">
              <a:latin typeface="Times New Roman" panose="02020603050405020304" pitchFamily="18" charset="0"/>
              <a:cs typeface="Times New Roman" panose="02020603050405020304" pitchFamily="18" charset="0"/>
            </a:endParaRPr>
          </a:p>
          <a:p>
            <a:pPr>
              <a:lnSpc>
                <a:spcPct val="100000"/>
              </a:lnSpc>
              <a:buNone/>
            </a:pP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system also utilizes a </a:t>
            </a:r>
            <a:r>
              <a:rPr lang="en-US" sz="2000" b="1" dirty="0" err="1">
                <a:latin typeface="Times New Roman" panose="02020603050405020304" pitchFamily="18" charset="0"/>
                <a:cs typeface="Times New Roman" panose="02020603050405020304" pitchFamily="18" charset="0"/>
              </a:rPr>
              <a:t>TensorFlow</a:t>
            </a:r>
            <a:r>
              <a:rPr lang="en-US" sz="2000" b="1" dirty="0">
                <a:latin typeface="Times New Roman" panose="02020603050405020304" pitchFamily="18" charset="0"/>
                <a:cs typeface="Times New Roman" panose="02020603050405020304" pitchFamily="18" charset="0"/>
              </a:rPr>
              <a:t> Convolutional Neural Network (CNN)</a:t>
            </a:r>
            <a:r>
              <a:rPr lang="en-US" sz="2000" dirty="0">
                <a:latin typeface="Times New Roman" panose="02020603050405020304" pitchFamily="18" charset="0"/>
                <a:cs typeface="Times New Roman" panose="02020603050405020304" pitchFamily="18" charset="0"/>
              </a:rPr>
              <a:t> model to analyze submitted tips and predict their authenticity, helping authorities prioritize credible reports efficiently. CNN is a deep learning algorithm designed to process and recognize patterns in images and text, improving the accuracy of tip classification. Additionally, </a:t>
            </a:r>
            <a:r>
              <a:rPr lang="en-US" sz="2000" b="1" dirty="0">
                <a:latin typeface="Times New Roman" panose="02020603050405020304" pitchFamily="18" charset="0"/>
                <a:cs typeface="Times New Roman" panose="02020603050405020304" pitchFamily="18" charset="0"/>
              </a:rPr>
              <a:t>IPFS</a:t>
            </a:r>
            <a:r>
              <a:rPr lang="en-US" sz="2000" dirty="0">
                <a:latin typeface="Times New Roman" panose="02020603050405020304" pitchFamily="18" charset="0"/>
                <a:cs typeface="Times New Roman" panose="02020603050405020304" pitchFamily="18" charset="0"/>
              </a:rPr>
              <a:t> ensures secure multimedia storage for evidence submission. </a:t>
            </a:r>
          </a:p>
        </p:txBody>
      </p:sp>
    </p:spTree>
    <p:extLst>
      <p:ext uri="{BB962C8B-B14F-4D97-AF65-F5344CB8AC3E}">
        <p14:creationId xmlns:p14="http://schemas.microsoft.com/office/powerpoint/2010/main" val="2565323091"/>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CF126D-15D1-0514-D01F-DA34E8CDF7F0}"/>
              </a:ext>
            </a:extLst>
          </p:cNvPr>
          <p:cNvSpPr>
            <a:spLocks noGrp="1"/>
          </p:cNvSpPr>
          <p:nvPr>
            <p:ph type="title"/>
          </p:nvPr>
        </p:nvSpPr>
        <p:spPr>
          <a:xfrm>
            <a:off x="1205345" y="348501"/>
            <a:ext cx="9784080" cy="856846"/>
          </a:xfrm>
        </p:spPr>
        <p:txBody>
          <a:bodyPr>
            <a:normAutofit/>
          </a:bodyPr>
          <a:lstStyle/>
          <a:p>
            <a:pPr algn="ctr"/>
            <a:r>
              <a:rPr lang="en-US" sz="4000" b="1" dirty="0">
                <a:latin typeface="Times New Roman" panose="02020603050405020304" pitchFamily="18" charset="0"/>
                <a:cs typeface="Times New Roman" panose="02020603050405020304" pitchFamily="18" charset="0"/>
              </a:rPr>
              <a:t>LITERATURE </a:t>
            </a:r>
            <a:r>
              <a:rPr lang="en-US" sz="4000" b="1" dirty="0" smtClean="0">
                <a:latin typeface="Times New Roman" panose="02020603050405020304" pitchFamily="18" charset="0"/>
                <a:cs typeface="Times New Roman" panose="02020603050405020304" pitchFamily="18" charset="0"/>
              </a:rPr>
              <a:t>SURVEY</a:t>
            </a:r>
            <a:endParaRPr lang="en-IN" sz="40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xmlns="" id="{B8BFE3E9-444F-8419-5CD5-58151A8EB70E}"/>
              </a:ext>
            </a:extLst>
          </p:cNvPr>
          <p:cNvSpPr>
            <a:spLocks noGrp="1"/>
          </p:cNvSpPr>
          <p:nvPr>
            <p:ph type="sldNum" sz="quarter" idx="12"/>
          </p:nvPr>
        </p:nvSpPr>
        <p:spPr/>
        <p:txBody>
          <a:bodyPr/>
          <a:lstStyle/>
          <a:p>
            <a:fld id="{249020A1-FA28-4834-83A8-C0CE35CB1668}" type="slidenum">
              <a:rPr lang="en-IN" smtClean="0"/>
              <a:pPr/>
              <a:t>9</a:t>
            </a:fld>
            <a:endParaRPr lang="en-IN"/>
          </a:p>
        </p:txBody>
      </p:sp>
      <p:graphicFrame>
        <p:nvGraphicFramePr>
          <p:cNvPr id="6" name="Table 5"/>
          <p:cNvGraphicFramePr>
            <a:graphicFrameLocks noGrp="1"/>
          </p:cNvGraphicFramePr>
          <p:nvPr>
            <p:extLst>
              <p:ext uri="{D42A27DB-BD31-4B8C-83A1-F6EECF244321}">
                <p14:modId xmlns:p14="http://schemas.microsoft.com/office/powerpoint/2010/main" val="2900923922"/>
              </p:ext>
            </p:extLst>
          </p:nvPr>
        </p:nvGraphicFramePr>
        <p:xfrm>
          <a:off x="407323" y="1501716"/>
          <a:ext cx="11380124" cy="4854634"/>
        </p:xfrm>
        <a:graphic>
          <a:graphicData uri="http://schemas.openxmlformats.org/drawingml/2006/table">
            <a:tbl>
              <a:tblPr firstRow="1" bandRow="1">
                <a:tableStyleId>{5C22544A-7EE6-4342-B048-85BDC9FD1C3A}</a:tableStyleId>
              </a:tblPr>
              <a:tblGrid>
                <a:gridCol w="1662546"/>
                <a:gridCol w="1454727"/>
                <a:gridCol w="2493818"/>
                <a:gridCol w="1986742"/>
                <a:gridCol w="2094807"/>
                <a:gridCol w="1687484"/>
              </a:tblGrid>
              <a:tr h="454900">
                <a:tc>
                  <a:txBody>
                    <a:bodyPr/>
                    <a:lstStyle/>
                    <a:p>
                      <a:pPr algn="ctr"/>
                      <a:r>
                        <a:rPr lang="en-US" dirty="0" smtClean="0">
                          <a:solidFill>
                            <a:schemeClr val="tx1"/>
                          </a:solidFill>
                        </a:rPr>
                        <a:t>TITLE</a:t>
                      </a:r>
                      <a:endParaRPr lang="en-IN" dirty="0">
                        <a:solidFill>
                          <a:schemeClr val="tx1"/>
                        </a:solidFill>
                      </a:endParaRPr>
                    </a:p>
                  </a:txBody>
                  <a:tcPr/>
                </a:tc>
                <a:tc>
                  <a:txBody>
                    <a:bodyPr/>
                    <a:lstStyle/>
                    <a:p>
                      <a:pPr algn="ctr"/>
                      <a:r>
                        <a:rPr lang="en-US" dirty="0" smtClean="0">
                          <a:solidFill>
                            <a:schemeClr val="tx1"/>
                          </a:solidFill>
                        </a:rPr>
                        <a:t>AUTHORS</a:t>
                      </a:r>
                      <a:endParaRPr lang="en-IN" dirty="0">
                        <a:solidFill>
                          <a:schemeClr val="tx1"/>
                        </a:solidFill>
                      </a:endParaRPr>
                    </a:p>
                  </a:txBody>
                  <a:tcPr/>
                </a:tc>
                <a:tc>
                  <a:txBody>
                    <a:bodyPr/>
                    <a:lstStyle/>
                    <a:p>
                      <a:pPr algn="ctr"/>
                      <a:r>
                        <a:rPr lang="en-US" dirty="0" smtClean="0">
                          <a:solidFill>
                            <a:schemeClr val="tx1"/>
                          </a:solidFill>
                        </a:rPr>
                        <a:t>METHODOLOGY</a:t>
                      </a:r>
                      <a:endParaRPr lang="en-IN" dirty="0">
                        <a:solidFill>
                          <a:schemeClr val="tx1"/>
                        </a:solidFill>
                      </a:endParaRPr>
                    </a:p>
                  </a:txBody>
                  <a:tcPr/>
                </a:tc>
                <a:tc>
                  <a:txBody>
                    <a:bodyPr/>
                    <a:lstStyle/>
                    <a:p>
                      <a:pPr algn="ctr"/>
                      <a:r>
                        <a:rPr lang="en-US" dirty="0" smtClean="0">
                          <a:solidFill>
                            <a:schemeClr val="tx1"/>
                          </a:solidFill>
                        </a:rPr>
                        <a:t>DRAWBACKS</a:t>
                      </a:r>
                      <a:endParaRPr lang="en-IN" dirty="0">
                        <a:solidFill>
                          <a:schemeClr val="tx1"/>
                        </a:solidFill>
                      </a:endParaRPr>
                    </a:p>
                  </a:txBody>
                  <a:tcPr/>
                </a:tc>
                <a:tc>
                  <a:txBody>
                    <a:bodyPr/>
                    <a:lstStyle/>
                    <a:p>
                      <a:pPr algn="ctr"/>
                      <a:r>
                        <a:rPr lang="en-US" dirty="0" smtClean="0">
                          <a:solidFill>
                            <a:schemeClr val="tx1"/>
                          </a:solidFill>
                        </a:rPr>
                        <a:t>RESULTS</a:t>
                      </a:r>
                      <a:endParaRPr lang="en-IN" dirty="0">
                        <a:solidFill>
                          <a:schemeClr val="tx1"/>
                        </a:solidFill>
                      </a:endParaRPr>
                    </a:p>
                  </a:txBody>
                  <a:tcPr/>
                </a:tc>
                <a:tc>
                  <a:txBody>
                    <a:bodyPr/>
                    <a:lstStyle/>
                    <a:p>
                      <a:pPr algn="ctr"/>
                      <a:r>
                        <a:rPr lang="en-US" dirty="0" smtClean="0">
                          <a:solidFill>
                            <a:schemeClr val="tx1"/>
                          </a:solidFill>
                        </a:rPr>
                        <a:t>LINK</a:t>
                      </a:r>
                      <a:endParaRPr lang="en-IN" dirty="0">
                        <a:solidFill>
                          <a:schemeClr val="tx1"/>
                        </a:solidFill>
                      </a:endParaRPr>
                    </a:p>
                  </a:txBody>
                  <a:tcPr/>
                </a:tc>
              </a:tr>
              <a:tr h="4399734">
                <a:tc>
                  <a:txBody>
                    <a:bodyPr/>
                    <a:lstStyle/>
                    <a:p>
                      <a:pPr algn="l"/>
                      <a:r>
                        <a:rPr lang="en-US" sz="1800" dirty="0" smtClean="0">
                          <a:latin typeface="Garamond" panose="02020404030301010803" pitchFamily="18" charset="0"/>
                        </a:rPr>
                        <a:t>K-Anonymity for Privacy Preserving Crime Data Publishing in Resource Constrained Environments</a:t>
                      </a:r>
                      <a:endParaRPr lang="en-IN" sz="1800" b="1" dirty="0">
                        <a:latin typeface="Garamond" panose="02020404030301010803" pitchFamily="18" charset="0"/>
                        <a:cs typeface="Times New Roman" panose="02020603050405020304" pitchFamily="18" charset="0"/>
                      </a:endParaRPr>
                    </a:p>
                  </a:txBody>
                  <a:tcPr/>
                </a:tc>
                <a:tc>
                  <a:txBody>
                    <a:bodyPr/>
                    <a:lstStyle/>
                    <a:p>
                      <a:pPr algn="l"/>
                      <a:r>
                        <a:rPr lang="it-IT" sz="1800" dirty="0" smtClean="0">
                          <a:latin typeface="Garamond" panose="02020404030301010803" pitchFamily="18" charset="0"/>
                        </a:rPr>
                        <a:t>Burke Mark-John and Kayem Anne V.D.M</a:t>
                      </a:r>
                      <a:endParaRPr lang="en-IN" sz="1800" dirty="0">
                        <a:latin typeface="Garamond" panose="02020404030301010803" pitchFamily="18" charset="0"/>
                        <a:cs typeface="Times New Roman" panose="02020603050405020304" pitchFamily="18" charset="0"/>
                      </a:endParaRPr>
                    </a:p>
                  </a:txBody>
                  <a:tcPr/>
                </a:tc>
                <a:tc>
                  <a:txBody>
                    <a:bodyPr/>
                    <a:lstStyle/>
                    <a:p>
                      <a:pPr algn="l"/>
                      <a:r>
                        <a:rPr lang="en-US" sz="1800" dirty="0" smtClean="0">
                          <a:latin typeface="Garamond" panose="02020404030301010803" pitchFamily="18" charset="0"/>
                        </a:rPr>
                        <a:t>Developed a mobile CBCR framework and a hybrid k-anonymity algorithm utilizing hierarchy-based generalization to ensure privacy preservation, minimize information loss, and optimize classification accuracy for crime data.</a:t>
                      </a:r>
                      <a:endParaRPr lang="en-IN" sz="1800" dirty="0">
                        <a:latin typeface="Garamond" panose="02020404030301010803" pitchFamily="18" charset="0"/>
                        <a:cs typeface="Times New Roman" panose="02020603050405020304" pitchFamily="18" charset="0"/>
                      </a:endParaRPr>
                    </a:p>
                  </a:txBody>
                  <a:tcPr/>
                </a:tc>
                <a:tc>
                  <a:txBody>
                    <a:bodyPr/>
                    <a:lstStyle/>
                    <a:p>
                      <a:pPr algn="l"/>
                      <a:r>
                        <a:rPr lang="en-US" sz="1800" dirty="0" smtClean="0">
                          <a:latin typeface="Garamond" panose="02020404030301010803" pitchFamily="18" charset="0"/>
                        </a:rPr>
                        <a:t>Limited classification accuracy (38%) may affect actionable insights. Algorithm effectiveness depends on dataset quality and size, and manual processing challenges within law enforcement agencies remain partially addressed.</a:t>
                      </a:r>
                      <a:endParaRPr lang="en-IN" sz="1800" dirty="0">
                        <a:latin typeface="Garamond" panose="02020404030301010803" pitchFamily="18" charset="0"/>
                        <a:cs typeface="Times New Roman" panose="02020603050405020304" pitchFamily="18" charset="0"/>
                      </a:endParaRPr>
                    </a:p>
                  </a:txBody>
                  <a:tcPr/>
                </a:tc>
                <a:tc>
                  <a:txBody>
                    <a:bodyPr/>
                    <a:lstStyle/>
                    <a:p>
                      <a:pPr algn="l"/>
                      <a:r>
                        <a:rPr lang="en-US" sz="1800" dirty="0" smtClean="0">
                          <a:latin typeface="Garamond" panose="02020404030301010803" pitchFamily="18" charset="0"/>
                        </a:rPr>
                        <a:t>Ensures privacy-preserving crime data publishing with reduced information loss and improved processing time. Further refinement is needed to enhance classification accuracy and adapt to diverse law enforcement needs.</a:t>
                      </a:r>
                      <a:endParaRPr lang="en-IN" sz="1800" dirty="0">
                        <a:latin typeface="Garamond" panose="02020404030301010803" pitchFamily="18" charset="0"/>
                        <a:cs typeface="Times New Roman" panose="02020603050405020304" pitchFamily="18" charset="0"/>
                      </a:endParaRPr>
                    </a:p>
                  </a:txBody>
                  <a:tcPr/>
                </a:tc>
                <a:tc>
                  <a:txBody>
                    <a:bodyPr/>
                    <a:lstStyle/>
                    <a:p>
                      <a:pPr algn="l"/>
                      <a:r>
                        <a:rPr lang="en-IN" sz="1800" dirty="0" smtClean="0">
                          <a:latin typeface="Garamond" panose="02020404030301010803" pitchFamily="18" charset="0"/>
                          <a:hlinkClick r:id="rId2"/>
                        </a:rPr>
                        <a:t>https://ieeexplore.ieee.org/document/6844743</a:t>
                      </a:r>
                      <a:r>
                        <a:rPr lang="en-IN" sz="1800" dirty="0" smtClean="0">
                          <a:latin typeface="Garamond" panose="02020404030301010803" pitchFamily="18" charset="0"/>
                        </a:rPr>
                        <a:t> </a:t>
                      </a:r>
                      <a:endParaRPr lang="en-IN" sz="1800" dirty="0">
                        <a:latin typeface="Garamond" panose="02020404030301010803"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893392979"/>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CF126D-15D1-0514-D01F-DA34E8CDF7F0}"/>
              </a:ext>
            </a:extLst>
          </p:cNvPr>
          <p:cNvSpPr>
            <a:spLocks noGrp="1"/>
          </p:cNvSpPr>
          <p:nvPr>
            <p:ph type="title"/>
          </p:nvPr>
        </p:nvSpPr>
        <p:spPr>
          <a:xfrm>
            <a:off x="1205345" y="348501"/>
            <a:ext cx="9784080" cy="856846"/>
          </a:xfrm>
        </p:spPr>
        <p:txBody>
          <a:bodyPr>
            <a:normAutofit/>
          </a:bodyPr>
          <a:lstStyle/>
          <a:p>
            <a:pPr algn="ctr"/>
            <a:r>
              <a:rPr lang="en-US" sz="4000" b="1" dirty="0">
                <a:latin typeface="Times New Roman" panose="02020603050405020304" pitchFamily="18" charset="0"/>
                <a:cs typeface="Times New Roman" panose="02020603050405020304" pitchFamily="18" charset="0"/>
              </a:rPr>
              <a:t>LITERATURE </a:t>
            </a:r>
            <a:r>
              <a:rPr lang="en-US" sz="4000" b="1" dirty="0" smtClean="0">
                <a:latin typeface="Times New Roman" panose="02020603050405020304" pitchFamily="18" charset="0"/>
                <a:cs typeface="Times New Roman" panose="02020603050405020304" pitchFamily="18" charset="0"/>
              </a:rPr>
              <a:t>SURVEY</a:t>
            </a:r>
            <a:endParaRPr lang="en-IN" sz="40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xmlns="" id="{B8BFE3E9-444F-8419-5CD5-58151A8EB70E}"/>
              </a:ext>
            </a:extLst>
          </p:cNvPr>
          <p:cNvSpPr>
            <a:spLocks noGrp="1"/>
          </p:cNvSpPr>
          <p:nvPr>
            <p:ph type="sldNum" sz="quarter" idx="12"/>
          </p:nvPr>
        </p:nvSpPr>
        <p:spPr/>
        <p:txBody>
          <a:bodyPr/>
          <a:lstStyle/>
          <a:p>
            <a:fld id="{249020A1-FA28-4834-83A8-C0CE35CB1668}" type="slidenum">
              <a:rPr lang="en-IN" smtClean="0"/>
              <a:pPr/>
              <a:t>10</a:t>
            </a:fld>
            <a:endParaRPr lang="en-IN"/>
          </a:p>
        </p:txBody>
      </p:sp>
      <p:graphicFrame>
        <p:nvGraphicFramePr>
          <p:cNvPr id="6" name="Table 5"/>
          <p:cNvGraphicFramePr>
            <a:graphicFrameLocks noGrp="1"/>
          </p:cNvGraphicFramePr>
          <p:nvPr>
            <p:extLst>
              <p:ext uri="{D42A27DB-BD31-4B8C-83A1-F6EECF244321}">
                <p14:modId xmlns:p14="http://schemas.microsoft.com/office/powerpoint/2010/main" val="113887988"/>
              </p:ext>
            </p:extLst>
          </p:nvPr>
        </p:nvGraphicFramePr>
        <p:xfrm>
          <a:off x="407323" y="1501716"/>
          <a:ext cx="11380124" cy="4854634"/>
        </p:xfrm>
        <a:graphic>
          <a:graphicData uri="http://schemas.openxmlformats.org/drawingml/2006/table">
            <a:tbl>
              <a:tblPr firstRow="1" bandRow="1">
                <a:tableStyleId>{5C22544A-7EE6-4342-B048-85BDC9FD1C3A}</a:tableStyleId>
              </a:tblPr>
              <a:tblGrid>
                <a:gridCol w="1662546"/>
                <a:gridCol w="1454727"/>
                <a:gridCol w="2335877"/>
                <a:gridCol w="2144683"/>
                <a:gridCol w="2094807"/>
                <a:gridCol w="1687484"/>
              </a:tblGrid>
              <a:tr h="454900">
                <a:tc>
                  <a:txBody>
                    <a:bodyPr/>
                    <a:lstStyle/>
                    <a:p>
                      <a:pPr algn="ctr"/>
                      <a:r>
                        <a:rPr lang="en-US" dirty="0" smtClean="0">
                          <a:solidFill>
                            <a:schemeClr val="tx1"/>
                          </a:solidFill>
                        </a:rPr>
                        <a:t>TITLE</a:t>
                      </a:r>
                      <a:endParaRPr lang="en-IN" dirty="0">
                        <a:solidFill>
                          <a:schemeClr val="tx1"/>
                        </a:solidFill>
                      </a:endParaRPr>
                    </a:p>
                  </a:txBody>
                  <a:tcPr/>
                </a:tc>
                <a:tc>
                  <a:txBody>
                    <a:bodyPr/>
                    <a:lstStyle/>
                    <a:p>
                      <a:pPr algn="ctr"/>
                      <a:r>
                        <a:rPr lang="en-US" dirty="0" smtClean="0">
                          <a:solidFill>
                            <a:schemeClr val="tx1"/>
                          </a:solidFill>
                        </a:rPr>
                        <a:t>AUTHORS</a:t>
                      </a:r>
                      <a:endParaRPr lang="en-IN" dirty="0">
                        <a:solidFill>
                          <a:schemeClr val="tx1"/>
                        </a:solidFill>
                      </a:endParaRPr>
                    </a:p>
                  </a:txBody>
                  <a:tcPr/>
                </a:tc>
                <a:tc>
                  <a:txBody>
                    <a:bodyPr/>
                    <a:lstStyle/>
                    <a:p>
                      <a:pPr algn="ctr"/>
                      <a:r>
                        <a:rPr lang="en-US" dirty="0" smtClean="0">
                          <a:solidFill>
                            <a:schemeClr val="tx1"/>
                          </a:solidFill>
                        </a:rPr>
                        <a:t>METHODOLOGY</a:t>
                      </a:r>
                      <a:endParaRPr lang="en-IN" dirty="0">
                        <a:solidFill>
                          <a:schemeClr val="tx1"/>
                        </a:solidFill>
                      </a:endParaRPr>
                    </a:p>
                  </a:txBody>
                  <a:tcPr/>
                </a:tc>
                <a:tc>
                  <a:txBody>
                    <a:bodyPr/>
                    <a:lstStyle/>
                    <a:p>
                      <a:pPr algn="ctr"/>
                      <a:r>
                        <a:rPr lang="en-US" dirty="0" smtClean="0">
                          <a:solidFill>
                            <a:schemeClr val="tx1"/>
                          </a:solidFill>
                        </a:rPr>
                        <a:t>DRAWBACKS</a:t>
                      </a:r>
                      <a:endParaRPr lang="en-IN" dirty="0">
                        <a:solidFill>
                          <a:schemeClr val="tx1"/>
                        </a:solidFill>
                      </a:endParaRPr>
                    </a:p>
                  </a:txBody>
                  <a:tcPr/>
                </a:tc>
                <a:tc>
                  <a:txBody>
                    <a:bodyPr/>
                    <a:lstStyle/>
                    <a:p>
                      <a:pPr algn="ctr"/>
                      <a:r>
                        <a:rPr lang="en-US" dirty="0" smtClean="0">
                          <a:solidFill>
                            <a:schemeClr val="tx1"/>
                          </a:solidFill>
                        </a:rPr>
                        <a:t>RESULTS</a:t>
                      </a:r>
                      <a:endParaRPr lang="en-IN" dirty="0">
                        <a:solidFill>
                          <a:schemeClr val="tx1"/>
                        </a:solidFill>
                      </a:endParaRPr>
                    </a:p>
                  </a:txBody>
                  <a:tcPr/>
                </a:tc>
                <a:tc>
                  <a:txBody>
                    <a:bodyPr/>
                    <a:lstStyle/>
                    <a:p>
                      <a:pPr algn="ctr"/>
                      <a:r>
                        <a:rPr lang="en-US" dirty="0" smtClean="0">
                          <a:solidFill>
                            <a:schemeClr val="tx1"/>
                          </a:solidFill>
                        </a:rPr>
                        <a:t>LINK</a:t>
                      </a:r>
                      <a:endParaRPr lang="en-IN" dirty="0">
                        <a:solidFill>
                          <a:schemeClr val="tx1"/>
                        </a:solidFill>
                      </a:endParaRPr>
                    </a:p>
                  </a:txBody>
                  <a:tcPr/>
                </a:tc>
              </a:tr>
              <a:tr h="4399734">
                <a:tc>
                  <a:txBody>
                    <a:bodyPr/>
                    <a:lstStyle/>
                    <a:p>
                      <a:pPr algn="l"/>
                      <a:r>
                        <a:rPr lang="en-US" sz="1800" dirty="0" smtClean="0">
                          <a:latin typeface="Garamond" panose="02020404030301010803" pitchFamily="18" charset="0"/>
                        </a:rPr>
                        <a:t>Toward an </a:t>
                      </a:r>
                      <a:r>
                        <a:rPr lang="en-US" sz="1800" dirty="0" err="1" smtClean="0">
                          <a:latin typeface="Garamond" panose="02020404030301010803" pitchFamily="18" charset="0"/>
                        </a:rPr>
                        <a:t>mPolicing</a:t>
                      </a:r>
                      <a:r>
                        <a:rPr lang="en-US" sz="1800" dirty="0" smtClean="0">
                          <a:latin typeface="Garamond" panose="02020404030301010803" pitchFamily="18" charset="0"/>
                        </a:rPr>
                        <a:t> solution for Namibia: Leveraging emerging mobile platforms and crime mapping</a:t>
                      </a:r>
                      <a:endParaRPr lang="en-IN" sz="1800" b="1" dirty="0">
                        <a:latin typeface="Garamond" panose="02020404030301010803" pitchFamily="18" charset="0"/>
                        <a:cs typeface="Times New Roman" panose="02020603050405020304" pitchFamily="18" charset="0"/>
                      </a:endParaRPr>
                    </a:p>
                  </a:txBody>
                  <a:tcPr/>
                </a:tc>
                <a:tc>
                  <a:txBody>
                    <a:bodyPr/>
                    <a:lstStyle/>
                    <a:p>
                      <a:pPr algn="l"/>
                      <a:r>
                        <a:rPr lang="en-US" sz="1800" dirty="0" smtClean="0">
                          <a:latin typeface="Garamond" panose="02020404030301010803" pitchFamily="18" charset="0"/>
                        </a:rPr>
                        <a:t>Jensen, K. L., </a:t>
                      </a:r>
                      <a:r>
                        <a:rPr lang="en-US" sz="1800" dirty="0" err="1" smtClean="0">
                          <a:latin typeface="Garamond" panose="02020404030301010803" pitchFamily="18" charset="0"/>
                        </a:rPr>
                        <a:t>Iipito</a:t>
                      </a:r>
                      <a:r>
                        <a:rPr lang="en-US" sz="1800" dirty="0" smtClean="0">
                          <a:latin typeface="Garamond" panose="02020404030301010803" pitchFamily="18" charset="0"/>
                        </a:rPr>
                        <a:t>, H. N., </a:t>
                      </a:r>
                      <a:r>
                        <a:rPr lang="en-US" sz="1800" dirty="0" err="1" smtClean="0">
                          <a:latin typeface="Garamond" panose="02020404030301010803" pitchFamily="18" charset="0"/>
                        </a:rPr>
                        <a:t>Onwordi</a:t>
                      </a:r>
                      <a:r>
                        <a:rPr lang="en-US" sz="1800" dirty="0" smtClean="0">
                          <a:latin typeface="Garamond" panose="02020404030301010803" pitchFamily="18" charset="0"/>
                        </a:rPr>
                        <a:t>, M. U. and </a:t>
                      </a:r>
                      <a:r>
                        <a:rPr lang="en-US" sz="1800" dirty="0" err="1" smtClean="0">
                          <a:latin typeface="Garamond" panose="02020404030301010803" pitchFamily="18" charset="0"/>
                        </a:rPr>
                        <a:t>Mukumbira</a:t>
                      </a:r>
                      <a:r>
                        <a:rPr lang="en-US" sz="1800" dirty="0" smtClean="0">
                          <a:latin typeface="Garamond" panose="02020404030301010803" pitchFamily="18" charset="0"/>
                        </a:rPr>
                        <a:t>, S. </a:t>
                      </a:r>
                      <a:endParaRPr lang="en-IN" sz="1800" dirty="0">
                        <a:latin typeface="Garamond" panose="02020404030301010803" pitchFamily="18" charset="0"/>
                        <a:cs typeface="Times New Roman" panose="02020603050405020304" pitchFamily="18" charset="0"/>
                      </a:endParaRPr>
                    </a:p>
                  </a:txBody>
                  <a:tcPr/>
                </a:tc>
                <a:tc>
                  <a:txBody>
                    <a:bodyPr/>
                    <a:lstStyle/>
                    <a:p>
                      <a:pPr algn="l"/>
                      <a:r>
                        <a:rPr lang="en-US" sz="1800" dirty="0" smtClean="0">
                          <a:latin typeface="Garamond" panose="02020404030301010803" pitchFamily="18" charset="0"/>
                        </a:rPr>
                        <a:t>Designed a mobile application for report creation using device sensors to capture contextual data, integrated a central repository for data sharing, and developed GIS-enabled crime mapping tools.</a:t>
                      </a:r>
                      <a:endParaRPr lang="en-IN" sz="1800" dirty="0">
                        <a:latin typeface="Garamond" panose="02020404030301010803" pitchFamily="18" charset="0"/>
                        <a:cs typeface="Times New Roman" panose="02020603050405020304" pitchFamily="18" charset="0"/>
                      </a:endParaRPr>
                    </a:p>
                  </a:txBody>
                  <a:tcPr/>
                </a:tc>
                <a:tc>
                  <a:txBody>
                    <a:bodyPr/>
                    <a:lstStyle/>
                    <a:p>
                      <a:pPr algn="l"/>
                      <a:r>
                        <a:rPr lang="en-US" sz="1800" dirty="0" smtClean="0">
                          <a:latin typeface="Garamond" panose="02020404030301010803" pitchFamily="18" charset="0"/>
                        </a:rPr>
                        <a:t>Limited evaluation in early phases may not reflect full scalability. Dependency on mobile devices and connectivity could hinder adoption in resource-constrained areas or during network outages.</a:t>
                      </a:r>
                      <a:endParaRPr lang="en-IN" sz="1800" dirty="0">
                        <a:latin typeface="Garamond" panose="02020404030301010803" pitchFamily="18" charset="0"/>
                        <a:cs typeface="Times New Roman" panose="02020603050405020304" pitchFamily="18" charset="0"/>
                      </a:endParaRPr>
                    </a:p>
                  </a:txBody>
                  <a:tcPr/>
                </a:tc>
                <a:tc>
                  <a:txBody>
                    <a:bodyPr/>
                    <a:lstStyle/>
                    <a:p>
                      <a:pPr algn="l"/>
                      <a:r>
                        <a:rPr lang="en-US" sz="1800" dirty="0" smtClean="0">
                          <a:latin typeface="Garamond" panose="02020404030301010803" pitchFamily="18" charset="0"/>
                        </a:rPr>
                        <a:t>Enhances efficiency in report creation and stakeholder collaboration through mobile technology and GIS integration. Further testing and optimization are required to ensure reliability and widespread usability.</a:t>
                      </a:r>
                      <a:endParaRPr lang="en-IN" sz="1800" dirty="0">
                        <a:latin typeface="Garamond" panose="02020404030301010803" pitchFamily="18" charset="0"/>
                        <a:cs typeface="Times New Roman" panose="02020603050405020304" pitchFamily="18" charset="0"/>
                      </a:endParaRPr>
                    </a:p>
                  </a:txBody>
                  <a:tcPr/>
                </a:tc>
                <a:tc>
                  <a:txBody>
                    <a:bodyPr/>
                    <a:lstStyle/>
                    <a:p>
                      <a:pPr algn="l"/>
                      <a:r>
                        <a:rPr lang="en-IN" sz="1800" dirty="0" smtClean="0">
                          <a:latin typeface="Garamond" panose="02020404030301010803" pitchFamily="18" charset="0"/>
                          <a:hlinkClick r:id="rId2"/>
                        </a:rPr>
                        <a:t>https://www.researchgate.net/publication/262166703_Toward_an_mPolicing_solution_for_Namibia_Leveraging_emerging_mobile_platforms_and_crime_mapping</a:t>
                      </a:r>
                      <a:r>
                        <a:rPr lang="en-IN" sz="1800" dirty="0" smtClean="0">
                          <a:latin typeface="Garamond" panose="02020404030301010803" pitchFamily="18" charset="0"/>
                        </a:rPr>
                        <a:t> </a:t>
                      </a:r>
                      <a:endParaRPr lang="en-IN" sz="1800" dirty="0">
                        <a:latin typeface="Garamond" panose="02020404030301010803"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3819687187"/>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CF126D-15D1-0514-D01F-DA34E8CDF7F0}"/>
              </a:ext>
            </a:extLst>
          </p:cNvPr>
          <p:cNvSpPr>
            <a:spLocks noGrp="1"/>
          </p:cNvSpPr>
          <p:nvPr>
            <p:ph type="title"/>
          </p:nvPr>
        </p:nvSpPr>
        <p:spPr>
          <a:xfrm>
            <a:off x="1205345" y="348501"/>
            <a:ext cx="9784080" cy="856846"/>
          </a:xfrm>
        </p:spPr>
        <p:txBody>
          <a:bodyPr>
            <a:normAutofit/>
          </a:bodyPr>
          <a:lstStyle/>
          <a:p>
            <a:pPr algn="ctr"/>
            <a:r>
              <a:rPr lang="en-US" sz="4000" b="1" dirty="0">
                <a:latin typeface="Times New Roman" panose="02020603050405020304" pitchFamily="18" charset="0"/>
                <a:cs typeface="Times New Roman" panose="02020603050405020304" pitchFamily="18" charset="0"/>
              </a:rPr>
              <a:t>LITERATURE </a:t>
            </a:r>
            <a:r>
              <a:rPr lang="en-US" sz="4000" b="1" dirty="0" smtClean="0">
                <a:latin typeface="Times New Roman" panose="02020603050405020304" pitchFamily="18" charset="0"/>
                <a:cs typeface="Times New Roman" panose="02020603050405020304" pitchFamily="18" charset="0"/>
              </a:rPr>
              <a:t>SURVEY</a:t>
            </a:r>
            <a:endParaRPr lang="en-IN" sz="40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xmlns="" id="{B8BFE3E9-444F-8419-5CD5-58151A8EB70E}"/>
              </a:ext>
            </a:extLst>
          </p:cNvPr>
          <p:cNvSpPr>
            <a:spLocks noGrp="1"/>
          </p:cNvSpPr>
          <p:nvPr>
            <p:ph type="sldNum" sz="quarter" idx="12"/>
          </p:nvPr>
        </p:nvSpPr>
        <p:spPr/>
        <p:txBody>
          <a:bodyPr/>
          <a:lstStyle/>
          <a:p>
            <a:fld id="{249020A1-FA28-4834-83A8-C0CE35CB1668}" type="slidenum">
              <a:rPr lang="en-IN" smtClean="0"/>
              <a:pPr/>
              <a:t>11</a:t>
            </a:fld>
            <a:endParaRPr lang="en-IN"/>
          </a:p>
        </p:txBody>
      </p:sp>
      <p:graphicFrame>
        <p:nvGraphicFramePr>
          <p:cNvPr id="6" name="Table 5"/>
          <p:cNvGraphicFramePr>
            <a:graphicFrameLocks noGrp="1"/>
          </p:cNvGraphicFramePr>
          <p:nvPr>
            <p:extLst>
              <p:ext uri="{D42A27DB-BD31-4B8C-83A1-F6EECF244321}">
                <p14:modId xmlns:p14="http://schemas.microsoft.com/office/powerpoint/2010/main" val="3219196798"/>
              </p:ext>
            </p:extLst>
          </p:nvPr>
        </p:nvGraphicFramePr>
        <p:xfrm>
          <a:off x="407323" y="1501716"/>
          <a:ext cx="11380124" cy="4854634"/>
        </p:xfrm>
        <a:graphic>
          <a:graphicData uri="http://schemas.openxmlformats.org/drawingml/2006/table">
            <a:tbl>
              <a:tblPr firstRow="1" bandRow="1">
                <a:tableStyleId>{5C22544A-7EE6-4342-B048-85BDC9FD1C3A}</a:tableStyleId>
              </a:tblPr>
              <a:tblGrid>
                <a:gridCol w="1662546"/>
                <a:gridCol w="1454727"/>
                <a:gridCol w="2335877"/>
                <a:gridCol w="2144683"/>
                <a:gridCol w="2094807"/>
                <a:gridCol w="1687484"/>
              </a:tblGrid>
              <a:tr h="454900">
                <a:tc>
                  <a:txBody>
                    <a:bodyPr/>
                    <a:lstStyle/>
                    <a:p>
                      <a:pPr algn="ctr"/>
                      <a:r>
                        <a:rPr lang="en-US" dirty="0" smtClean="0">
                          <a:solidFill>
                            <a:schemeClr val="tx1"/>
                          </a:solidFill>
                        </a:rPr>
                        <a:t>TITLE</a:t>
                      </a:r>
                      <a:endParaRPr lang="en-IN" dirty="0">
                        <a:solidFill>
                          <a:schemeClr val="tx1"/>
                        </a:solidFill>
                      </a:endParaRPr>
                    </a:p>
                  </a:txBody>
                  <a:tcPr/>
                </a:tc>
                <a:tc>
                  <a:txBody>
                    <a:bodyPr/>
                    <a:lstStyle/>
                    <a:p>
                      <a:pPr algn="ctr"/>
                      <a:r>
                        <a:rPr lang="en-US" dirty="0" smtClean="0">
                          <a:solidFill>
                            <a:schemeClr val="tx1"/>
                          </a:solidFill>
                        </a:rPr>
                        <a:t>AUTHORS</a:t>
                      </a:r>
                      <a:endParaRPr lang="en-IN" dirty="0">
                        <a:solidFill>
                          <a:schemeClr val="tx1"/>
                        </a:solidFill>
                      </a:endParaRPr>
                    </a:p>
                  </a:txBody>
                  <a:tcPr/>
                </a:tc>
                <a:tc>
                  <a:txBody>
                    <a:bodyPr/>
                    <a:lstStyle/>
                    <a:p>
                      <a:pPr algn="ctr"/>
                      <a:r>
                        <a:rPr lang="en-US" dirty="0" smtClean="0">
                          <a:solidFill>
                            <a:schemeClr val="tx1"/>
                          </a:solidFill>
                        </a:rPr>
                        <a:t>METHODOLOGY</a:t>
                      </a:r>
                      <a:endParaRPr lang="en-IN" dirty="0">
                        <a:solidFill>
                          <a:schemeClr val="tx1"/>
                        </a:solidFill>
                      </a:endParaRPr>
                    </a:p>
                  </a:txBody>
                  <a:tcPr/>
                </a:tc>
                <a:tc>
                  <a:txBody>
                    <a:bodyPr/>
                    <a:lstStyle/>
                    <a:p>
                      <a:pPr algn="ctr"/>
                      <a:r>
                        <a:rPr lang="en-US" dirty="0" smtClean="0">
                          <a:solidFill>
                            <a:schemeClr val="tx1"/>
                          </a:solidFill>
                        </a:rPr>
                        <a:t>DRAWBACKS</a:t>
                      </a:r>
                      <a:endParaRPr lang="en-IN" dirty="0">
                        <a:solidFill>
                          <a:schemeClr val="tx1"/>
                        </a:solidFill>
                      </a:endParaRPr>
                    </a:p>
                  </a:txBody>
                  <a:tcPr/>
                </a:tc>
                <a:tc>
                  <a:txBody>
                    <a:bodyPr/>
                    <a:lstStyle/>
                    <a:p>
                      <a:pPr algn="ctr"/>
                      <a:r>
                        <a:rPr lang="en-US" dirty="0" smtClean="0">
                          <a:solidFill>
                            <a:schemeClr val="tx1"/>
                          </a:solidFill>
                        </a:rPr>
                        <a:t>RESULTS</a:t>
                      </a:r>
                      <a:endParaRPr lang="en-IN" dirty="0">
                        <a:solidFill>
                          <a:schemeClr val="tx1"/>
                        </a:solidFill>
                      </a:endParaRPr>
                    </a:p>
                  </a:txBody>
                  <a:tcPr/>
                </a:tc>
                <a:tc>
                  <a:txBody>
                    <a:bodyPr/>
                    <a:lstStyle/>
                    <a:p>
                      <a:pPr algn="ctr"/>
                      <a:r>
                        <a:rPr lang="en-US" dirty="0" smtClean="0">
                          <a:solidFill>
                            <a:schemeClr val="tx1"/>
                          </a:solidFill>
                        </a:rPr>
                        <a:t>LINK</a:t>
                      </a:r>
                      <a:endParaRPr lang="en-IN" dirty="0">
                        <a:solidFill>
                          <a:schemeClr val="tx1"/>
                        </a:solidFill>
                      </a:endParaRPr>
                    </a:p>
                  </a:txBody>
                  <a:tcPr/>
                </a:tc>
              </a:tr>
              <a:tr h="4399734">
                <a:tc>
                  <a:txBody>
                    <a:bodyPr/>
                    <a:lstStyle/>
                    <a:p>
                      <a:pPr algn="l"/>
                      <a:r>
                        <a:rPr lang="en-US" sz="1800" dirty="0" smtClean="0">
                          <a:latin typeface="Garamond" panose="02020404030301010803" pitchFamily="18" charset="0"/>
                        </a:rPr>
                        <a:t>When crime reporting goes high-tech: An experimental test of computerized citizen response to crime</a:t>
                      </a:r>
                      <a:endParaRPr lang="en-IN" sz="1800" b="1" dirty="0">
                        <a:latin typeface="Garamond" panose="02020404030301010803" pitchFamily="18" charset="0"/>
                        <a:cs typeface="Times New Roman" panose="02020603050405020304" pitchFamily="18" charset="0"/>
                      </a:endParaRPr>
                    </a:p>
                  </a:txBody>
                  <a:tcPr/>
                </a:tc>
                <a:tc>
                  <a:txBody>
                    <a:bodyPr/>
                    <a:lstStyle/>
                    <a:p>
                      <a:pPr algn="l"/>
                      <a:r>
                        <a:rPr lang="en-US" sz="1800" dirty="0" err="1" smtClean="0">
                          <a:latin typeface="Garamond" panose="02020404030301010803" pitchFamily="18" charset="0"/>
                        </a:rPr>
                        <a:t>Lasley</a:t>
                      </a:r>
                      <a:r>
                        <a:rPr lang="en-US" sz="1800" dirty="0" smtClean="0">
                          <a:latin typeface="Garamond" panose="02020404030301010803" pitchFamily="18" charset="0"/>
                        </a:rPr>
                        <a:t>, J.R. and </a:t>
                      </a:r>
                      <a:r>
                        <a:rPr lang="en-US" sz="1800" dirty="0" err="1" smtClean="0">
                          <a:latin typeface="Garamond" panose="02020404030301010803" pitchFamily="18" charset="0"/>
                        </a:rPr>
                        <a:t>Palombo</a:t>
                      </a:r>
                      <a:r>
                        <a:rPr lang="en-US" sz="1800" dirty="0" smtClean="0">
                          <a:latin typeface="Garamond" panose="02020404030301010803" pitchFamily="18" charset="0"/>
                        </a:rPr>
                        <a:t>, B.J. </a:t>
                      </a:r>
                      <a:endParaRPr lang="en-IN" sz="1800" dirty="0">
                        <a:latin typeface="Garamond" panose="02020404030301010803" pitchFamily="18" charset="0"/>
                        <a:cs typeface="Times New Roman" panose="02020603050405020304" pitchFamily="18" charset="0"/>
                      </a:endParaRPr>
                    </a:p>
                  </a:txBody>
                  <a:tcPr/>
                </a:tc>
                <a:tc>
                  <a:txBody>
                    <a:bodyPr/>
                    <a:lstStyle/>
                    <a:p>
                      <a:pPr algn="l"/>
                      <a:r>
                        <a:rPr lang="en-US" sz="1800" dirty="0" smtClean="0">
                          <a:latin typeface="Garamond" panose="02020404030301010803" pitchFamily="18" charset="0"/>
                        </a:rPr>
                        <a:t>Used a randomized experimental design with 140 subjects to compare crime reporting rates between telephonic and computer interactive modes, analyzing behavior across low and moderate crime seriousness levels.</a:t>
                      </a:r>
                      <a:endParaRPr lang="en-IN" sz="1800" dirty="0">
                        <a:latin typeface="Garamond" panose="02020404030301010803" pitchFamily="18" charset="0"/>
                        <a:cs typeface="Times New Roman" panose="02020603050405020304" pitchFamily="18" charset="0"/>
                      </a:endParaRPr>
                    </a:p>
                  </a:txBody>
                  <a:tcPr/>
                </a:tc>
                <a:tc>
                  <a:txBody>
                    <a:bodyPr/>
                    <a:lstStyle/>
                    <a:p>
                      <a:pPr algn="l"/>
                      <a:r>
                        <a:rPr lang="en-US" sz="1800" dirty="0" smtClean="0">
                          <a:latin typeface="Garamond" panose="02020404030301010803" pitchFamily="18" charset="0"/>
                        </a:rPr>
                        <a:t>Controlled laboratory setting may not replicate real-world complexities. Limited sample size and focus on two modes could overlook other influential factors affecting citizen crime reporting decisions.</a:t>
                      </a:r>
                      <a:endParaRPr lang="en-IN" sz="1800" dirty="0">
                        <a:latin typeface="Garamond" panose="02020404030301010803" pitchFamily="18" charset="0"/>
                        <a:cs typeface="Times New Roman" panose="02020603050405020304" pitchFamily="18" charset="0"/>
                      </a:endParaRPr>
                    </a:p>
                  </a:txBody>
                  <a:tcPr/>
                </a:tc>
                <a:tc>
                  <a:txBody>
                    <a:bodyPr/>
                    <a:lstStyle/>
                    <a:p>
                      <a:pPr algn="l"/>
                      <a:r>
                        <a:rPr lang="en-US" sz="1800" dirty="0" smtClean="0">
                          <a:latin typeface="Garamond" panose="02020404030301010803" pitchFamily="18" charset="0"/>
                        </a:rPr>
                        <a:t>Computer interactive reporting mode significantly increases reporting rates, particularly for less severe crimes, indicating potential for technology to enhance crime reporting but requiring validation in real-world settings.</a:t>
                      </a:r>
                      <a:endParaRPr lang="en-IN" sz="1800" dirty="0">
                        <a:latin typeface="Garamond" panose="02020404030301010803" pitchFamily="18" charset="0"/>
                        <a:cs typeface="Times New Roman" panose="02020603050405020304" pitchFamily="18" charset="0"/>
                      </a:endParaRPr>
                    </a:p>
                  </a:txBody>
                  <a:tcPr/>
                </a:tc>
                <a:tc>
                  <a:txBody>
                    <a:bodyPr/>
                    <a:lstStyle/>
                    <a:p>
                      <a:pPr algn="l"/>
                      <a:r>
                        <a:rPr lang="en-IN" sz="1800" dirty="0" smtClean="0">
                          <a:latin typeface="Garamond" panose="02020404030301010803" pitchFamily="18" charset="0"/>
                          <a:hlinkClick r:id="rId2"/>
                        </a:rPr>
                        <a:t>https://www.sciencedirect.com/science/article/abs/pii/0047235295000437</a:t>
                      </a:r>
                      <a:r>
                        <a:rPr lang="en-IN" sz="1800" dirty="0" smtClean="0">
                          <a:latin typeface="Garamond" panose="02020404030301010803" pitchFamily="18" charset="0"/>
                        </a:rPr>
                        <a:t> </a:t>
                      </a:r>
                      <a:endParaRPr lang="en-IN" sz="1800" dirty="0">
                        <a:latin typeface="Garamond" panose="02020404030301010803"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2867982303"/>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CF126D-15D1-0514-D01F-DA34E8CDF7F0}"/>
              </a:ext>
            </a:extLst>
          </p:cNvPr>
          <p:cNvSpPr>
            <a:spLocks noGrp="1"/>
          </p:cNvSpPr>
          <p:nvPr>
            <p:ph type="title"/>
          </p:nvPr>
        </p:nvSpPr>
        <p:spPr>
          <a:xfrm>
            <a:off x="1205345" y="348501"/>
            <a:ext cx="9784080" cy="856846"/>
          </a:xfrm>
        </p:spPr>
        <p:txBody>
          <a:bodyPr>
            <a:normAutofit/>
          </a:bodyPr>
          <a:lstStyle/>
          <a:p>
            <a:pPr algn="ctr"/>
            <a:r>
              <a:rPr lang="en-US" sz="4000" b="1" dirty="0">
                <a:latin typeface="Times New Roman" panose="02020603050405020304" pitchFamily="18" charset="0"/>
                <a:cs typeface="Times New Roman" panose="02020603050405020304" pitchFamily="18" charset="0"/>
              </a:rPr>
              <a:t>LITERATURE </a:t>
            </a:r>
            <a:r>
              <a:rPr lang="en-US" sz="4000" b="1" dirty="0" smtClean="0">
                <a:latin typeface="Times New Roman" panose="02020603050405020304" pitchFamily="18" charset="0"/>
                <a:cs typeface="Times New Roman" panose="02020603050405020304" pitchFamily="18" charset="0"/>
              </a:rPr>
              <a:t>SURVEY</a:t>
            </a:r>
            <a:endParaRPr lang="en-IN" sz="40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xmlns="" id="{B8BFE3E9-444F-8419-5CD5-58151A8EB70E}"/>
              </a:ext>
            </a:extLst>
          </p:cNvPr>
          <p:cNvSpPr>
            <a:spLocks noGrp="1"/>
          </p:cNvSpPr>
          <p:nvPr>
            <p:ph type="sldNum" sz="quarter" idx="12"/>
          </p:nvPr>
        </p:nvSpPr>
        <p:spPr/>
        <p:txBody>
          <a:bodyPr/>
          <a:lstStyle/>
          <a:p>
            <a:fld id="{249020A1-FA28-4834-83A8-C0CE35CB1668}" type="slidenum">
              <a:rPr lang="en-IN" smtClean="0"/>
              <a:pPr/>
              <a:t>12</a:t>
            </a:fld>
            <a:endParaRPr lang="en-IN"/>
          </a:p>
        </p:txBody>
      </p:sp>
      <p:graphicFrame>
        <p:nvGraphicFramePr>
          <p:cNvPr id="6" name="Table 5"/>
          <p:cNvGraphicFramePr>
            <a:graphicFrameLocks noGrp="1"/>
          </p:cNvGraphicFramePr>
          <p:nvPr>
            <p:extLst>
              <p:ext uri="{D42A27DB-BD31-4B8C-83A1-F6EECF244321}">
                <p14:modId xmlns:p14="http://schemas.microsoft.com/office/powerpoint/2010/main" val="360368000"/>
              </p:ext>
            </p:extLst>
          </p:nvPr>
        </p:nvGraphicFramePr>
        <p:xfrm>
          <a:off x="407323" y="1501716"/>
          <a:ext cx="11380124" cy="4854634"/>
        </p:xfrm>
        <a:graphic>
          <a:graphicData uri="http://schemas.openxmlformats.org/drawingml/2006/table">
            <a:tbl>
              <a:tblPr firstRow="1" bandRow="1">
                <a:tableStyleId>{5C22544A-7EE6-4342-B048-85BDC9FD1C3A}</a:tableStyleId>
              </a:tblPr>
              <a:tblGrid>
                <a:gridCol w="1596044"/>
                <a:gridCol w="1629295"/>
                <a:gridCol w="2227811"/>
                <a:gridCol w="2144683"/>
                <a:gridCol w="2094807"/>
                <a:gridCol w="1687484"/>
              </a:tblGrid>
              <a:tr h="454900">
                <a:tc>
                  <a:txBody>
                    <a:bodyPr/>
                    <a:lstStyle/>
                    <a:p>
                      <a:pPr algn="ctr"/>
                      <a:r>
                        <a:rPr lang="en-US" dirty="0" smtClean="0">
                          <a:solidFill>
                            <a:schemeClr val="tx1"/>
                          </a:solidFill>
                        </a:rPr>
                        <a:t>TITLE</a:t>
                      </a:r>
                      <a:endParaRPr lang="en-IN" dirty="0">
                        <a:solidFill>
                          <a:schemeClr val="tx1"/>
                        </a:solidFill>
                      </a:endParaRPr>
                    </a:p>
                  </a:txBody>
                  <a:tcPr/>
                </a:tc>
                <a:tc>
                  <a:txBody>
                    <a:bodyPr/>
                    <a:lstStyle/>
                    <a:p>
                      <a:pPr algn="ctr"/>
                      <a:r>
                        <a:rPr lang="en-US" dirty="0" smtClean="0">
                          <a:solidFill>
                            <a:schemeClr val="tx1"/>
                          </a:solidFill>
                        </a:rPr>
                        <a:t>AUTHORS</a:t>
                      </a:r>
                      <a:endParaRPr lang="en-IN" dirty="0">
                        <a:solidFill>
                          <a:schemeClr val="tx1"/>
                        </a:solidFill>
                      </a:endParaRPr>
                    </a:p>
                  </a:txBody>
                  <a:tcPr/>
                </a:tc>
                <a:tc>
                  <a:txBody>
                    <a:bodyPr/>
                    <a:lstStyle/>
                    <a:p>
                      <a:pPr algn="ctr"/>
                      <a:r>
                        <a:rPr lang="en-US" dirty="0" smtClean="0">
                          <a:solidFill>
                            <a:schemeClr val="tx1"/>
                          </a:solidFill>
                        </a:rPr>
                        <a:t>METHODOLOGY</a:t>
                      </a:r>
                      <a:endParaRPr lang="en-IN" dirty="0">
                        <a:solidFill>
                          <a:schemeClr val="tx1"/>
                        </a:solidFill>
                      </a:endParaRPr>
                    </a:p>
                  </a:txBody>
                  <a:tcPr/>
                </a:tc>
                <a:tc>
                  <a:txBody>
                    <a:bodyPr/>
                    <a:lstStyle/>
                    <a:p>
                      <a:pPr algn="ctr"/>
                      <a:r>
                        <a:rPr lang="en-US" dirty="0" smtClean="0">
                          <a:solidFill>
                            <a:schemeClr val="tx1"/>
                          </a:solidFill>
                        </a:rPr>
                        <a:t>DRAWBACKS</a:t>
                      </a:r>
                      <a:endParaRPr lang="en-IN" dirty="0">
                        <a:solidFill>
                          <a:schemeClr val="tx1"/>
                        </a:solidFill>
                      </a:endParaRPr>
                    </a:p>
                  </a:txBody>
                  <a:tcPr/>
                </a:tc>
                <a:tc>
                  <a:txBody>
                    <a:bodyPr/>
                    <a:lstStyle/>
                    <a:p>
                      <a:pPr algn="ctr"/>
                      <a:r>
                        <a:rPr lang="en-US" dirty="0" smtClean="0">
                          <a:solidFill>
                            <a:schemeClr val="tx1"/>
                          </a:solidFill>
                        </a:rPr>
                        <a:t>RESULTS</a:t>
                      </a:r>
                      <a:endParaRPr lang="en-IN" dirty="0">
                        <a:solidFill>
                          <a:schemeClr val="tx1"/>
                        </a:solidFill>
                      </a:endParaRPr>
                    </a:p>
                  </a:txBody>
                  <a:tcPr/>
                </a:tc>
                <a:tc>
                  <a:txBody>
                    <a:bodyPr/>
                    <a:lstStyle/>
                    <a:p>
                      <a:pPr algn="ctr"/>
                      <a:r>
                        <a:rPr lang="en-US" dirty="0" smtClean="0">
                          <a:solidFill>
                            <a:schemeClr val="tx1"/>
                          </a:solidFill>
                        </a:rPr>
                        <a:t>LINK</a:t>
                      </a:r>
                      <a:endParaRPr lang="en-IN" dirty="0">
                        <a:solidFill>
                          <a:schemeClr val="tx1"/>
                        </a:solidFill>
                      </a:endParaRPr>
                    </a:p>
                  </a:txBody>
                  <a:tcPr/>
                </a:tc>
              </a:tr>
              <a:tr h="4399734">
                <a:tc>
                  <a:txBody>
                    <a:bodyPr/>
                    <a:lstStyle/>
                    <a:p>
                      <a:pPr algn="l"/>
                      <a:r>
                        <a:rPr lang="en-US" sz="1800" dirty="0" smtClean="0">
                          <a:latin typeface="Garamond" panose="02020404030301010803" pitchFamily="18" charset="0"/>
                        </a:rPr>
                        <a:t>Feature Based Training for Crime Detection using Deep Learning Techniques</a:t>
                      </a:r>
                      <a:endParaRPr lang="en-IN" sz="1800" b="1" dirty="0">
                        <a:latin typeface="Garamond" panose="02020404030301010803" pitchFamily="18" charset="0"/>
                        <a:cs typeface="Times New Roman" panose="02020603050405020304" pitchFamily="18" charset="0"/>
                      </a:endParaRPr>
                    </a:p>
                  </a:txBody>
                  <a:tcPr/>
                </a:tc>
                <a:tc>
                  <a:txBody>
                    <a:bodyPr/>
                    <a:lstStyle/>
                    <a:p>
                      <a:pPr algn="l"/>
                      <a:r>
                        <a:rPr lang="en-US" sz="1800" dirty="0" smtClean="0">
                          <a:latin typeface="Garamond" panose="02020404030301010803" pitchFamily="18" charset="0"/>
                        </a:rPr>
                        <a:t>P.</a:t>
                      </a:r>
                      <a:r>
                        <a:rPr lang="en-US" sz="1800" baseline="0" dirty="0" smtClean="0">
                          <a:latin typeface="Garamond" panose="02020404030301010803" pitchFamily="18" charset="0"/>
                        </a:rPr>
                        <a:t> </a:t>
                      </a:r>
                      <a:r>
                        <a:rPr lang="en-US" sz="1800" dirty="0" err="1" smtClean="0">
                          <a:latin typeface="Garamond" panose="02020404030301010803" pitchFamily="18" charset="0"/>
                        </a:rPr>
                        <a:t>Mahalakshmi</a:t>
                      </a:r>
                      <a:r>
                        <a:rPr lang="en-US" sz="1800" dirty="0" smtClean="0">
                          <a:latin typeface="Garamond" panose="02020404030301010803" pitchFamily="18" charset="0"/>
                        </a:rPr>
                        <a:t>, S. </a:t>
                      </a:r>
                      <a:r>
                        <a:rPr lang="en-US" sz="1800" dirty="0" err="1" smtClean="0">
                          <a:latin typeface="Garamond" panose="02020404030301010803" pitchFamily="18" charset="0"/>
                        </a:rPr>
                        <a:t>Thenmalar</a:t>
                      </a:r>
                      <a:endParaRPr lang="en-IN" sz="1800" dirty="0">
                        <a:latin typeface="Garamond" panose="02020404030301010803" pitchFamily="18" charset="0"/>
                        <a:cs typeface="Times New Roman" panose="02020603050405020304" pitchFamily="18" charset="0"/>
                      </a:endParaRPr>
                    </a:p>
                  </a:txBody>
                  <a:tcPr/>
                </a:tc>
                <a:tc>
                  <a:txBody>
                    <a:bodyPr/>
                    <a:lstStyle/>
                    <a:p>
                      <a:pPr algn="l"/>
                      <a:r>
                        <a:rPr lang="en-US" sz="1800" dirty="0" smtClean="0">
                          <a:latin typeface="Garamond" panose="02020404030301010803" pitchFamily="18" charset="0"/>
                        </a:rPr>
                        <a:t>Extract spatiotemporal features from sequential video frames using a </a:t>
                      </a:r>
                      <a:r>
                        <a:rPr lang="en-US" sz="1800" dirty="0" err="1" smtClean="0">
                          <a:latin typeface="Garamond" panose="02020404030301010803" pitchFamily="18" charset="0"/>
                        </a:rPr>
                        <a:t>pretrained</a:t>
                      </a:r>
                      <a:r>
                        <a:rPr lang="en-US" sz="1800" dirty="0" smtClean="0">
                          <a:latin typeface="Garamond" panose="02020404030301010803" pitchFamily="18" charset="0"/>
                        </a:rPr>
                        <a:t> CNN model, followed by anomaly classification via Bi-LSTM, enabling detection of unusual events in surveillance footage.</a:t>
                      </a:r>
                      <a:endParaRPr lang="en-IN" sz="1800" dirty="0">
                        <a:latin typeface="Garamond" panose="02020404030301010803"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smtClean="0">
                          <a:latin typeface="Garamond" panose="02020404030301010803" pitchFamily="18" charset="0"/>
                        </a:rPr>
                        <a:t>May struggle with complex or highly dynamic scenes, depends on quality of </a:t>
                      </a:r>
                      <a:r>
                        <a:rPr lang="en-US" sz="1800" dirty="0" err="1" smtClean="0">
                          <a:latin typeface="Garamond" panose="02020404030301010803" pitchFamily="18" charset="0"/>
                        </a:rPr>
                        <a:t>pretrained</a:t>
                      </a:r>
                      <a:r>
                        <a:rPr lang="en-US" sz="1800" dirty="0" smtClean="0">
                          <a:latin typeface="Garamond" panose="02020404030301010803" pitchFamily="18" charset="0"/>
                        </a:rPr>
                        <a:t> models, and can require significant computational resources for feature extraction and Bi-LSTM processing.</a:t>
                      </a:r>
                      <a:endParaRPr lang="en-IN" sz="1800" dirty="0" smtClean="0">
                        <a:latin typeface="Garamond" panose="02020404030301010803" pitchFamily="18" charset="0"/>
                        <a:cs typeface="Times New Roman" panose="02020603050405020304" pitchFamily="18" charset="0"/>
                      </a:endParaRPr>
                    </a:p>
                    <a:p>
                      <a:pPr algn="l"/>
                      <a:endParaRPr lang="en-IN" sz="1800" dirty="0">
                        <a:latin typeface="Garamond" panose="02020404030301010803"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smtClean="0">
                          <a:latin typeface="Garamond" panose="02020404030301010803" pitchFamily="18" charset="0"/>
                        </a:rPr>
                        <a:t>The framework effectively detects anomalies in surveillance videos, enhancing public safety, but further optimization is needed for handling diverse environments and reducing computational complexity in real-time scenarios.</a:t>
                      </a:r>
                      <a:endParaRPr lang="en-IN" sz="1800" dirty="0" smtClean="0">
                        <a:latin typeface="Garamond" panose="02020404030301010803" pitchFamily="18" charset="0"/>
                        <a:cs typeface="Times New Roman" panose="02020603050405020304" pitchFamily="18" charset="0"/>
                      </a:endParaRPr>
                    </a:p>
                  </a:txBody>
                  <a:tcPr/>
                </a:tc>
                <a:tc>
                  <a:txBody>
                    <a:bodyPr/>
                    <a:lstStyle/>
                    <a:p>
                      <a:pPr algn="l"/>
                      <a:r>
                        <a:rPr lang="en-IN" sz="1800" dirty="0" smtClean="0">
                          <a:latin typeface="Garamond" panose="02020404030301010803" pitchFamily="18" charset="0"/>
                          <a:hlinkClick r:id="rId2"/>
                        </a:rPr>
                        <a:t>https://ieeexplore.ieee.org/document/10369315</a:t>
                      </a:r>
                      <a:r>
                        <a:rPr lang="en-IN" sz="1800" dirty="0" smtClean="0">
                          <a:latin typeface="Garamond" panose="02020404030301010803" pitchFamily="18" charset="0"/>
                        </a:rPr>
                        <a:t> </a:t>
                      </a:r>
                      <a:endParaRPr lang="en-IN" sz="1800" dirty="0">
                        <a:latin typeface="Garamond" panose="02020404030301010803"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368872204"/>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CF126D-15D1-0514-D01F-DA34E8CDF7F0}"/>
              </a:ext>
            </a:extLst>
          </p:cNvPr>
          <p:cNvSpPr>
            <a:spLocks noGrp="1"/>
          </p:cNvSpPr>
          <p:nvPr>
            <p:ph type="title"/>
          </p:nvPr>
        </p:nvSpPr>
        <p:spPr>
          <a:xfrm>
            <a:off x="1205345" y="348501"/>
            <a:ext cx="9784080" cy="856846"/>
          </a:xfrm>
        </p:spPr>
        <p:txBody>
          <a:bodyPr>
            <a:normAutofit/>
          </a:bodyPr>
          <a:lstStyle/>
          <a:p>
            <a:pPr algn="ctr"/>
            <a:r>
              <a:rPr lang="en-US" sz="4000" b="1" dirty="0">
                <a:latin typeface="Times New Roman" panose="02020603050405020304" pitchFamily="18" charset="0"/>
                <a:cs typeface="Times New Roman" panose="02020603050405020304" pitchFamily="18" charset="0"/>
              </a:rPr>
              <a:t>LITERATURE </a:t>
            </a:r>
            <a:r>
              <a:rPr lang="en-US" sz="4000" b="1" dirty="0" smtClean="0">
                <a:latin typeface="Times New Roman" panose="02020603050405020304" pitchFamily="18" charset="0"/>
                <a:cs typeface="Times New Roman" panose="02020603050405020304" pitchFamily="18" charset="0"/>
              </a:rPr>
              <a:t>SURVEY</a:t>
            </a:r>
            <a:endParaRPr lang="en-IN" sz="40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xmlns="" id="{B8BFE3E9-444F-8419-5CD5-58151A8EB70E}"/>
              </a:ext>
            </a:extLst>
          </p:cNvPr>
          <p:cNvSpPr>
            <a:spLocks noGrp="1"/>
          </p:cNvSpPr>
          <p:nvPr>
            <p:ph type="sldNum" sz="quarter" idx="12"/>
          </p:nvPr>
        </p:nvSpPr>
        <p:spPr/>
        <p:txBody>
          <a:bodyPr/>
          <a:lstStyle/>
          <a:p>
            <a:fld id="{249020A1-FA28-4834-83A8-C0CE35CB1668}" type="slidenum">
              <a:rPr lang="en-IN" smtClean="0"/>
              <a:pPr/>
              <a:t>13</a:t>
            </a:fld>
            <a:endParaRPr lang="en-IN"/>
          </a:p>
        </p:txBody>
      </p:sp>
      <p:graphicFrame>
        <p:nvGraphicFramePr>
          <p:cNvPr id="6" name="Table 5"/>
          <p:cNvGraphicFramePr>
            <a:graphicFrameLocks noGrp="1"/>
          </p:cNvGraphicFramePr>
          <p:nvPr>
            <p:extLst>
              <p:ext uri="{D42A27DB-BD31-4B8C-83A1-F6EECF244321}">
                <p14:modId xmlns:p14="http://schemas.microsoft.com/office/powerpoint/2010/main" val="3513230940"/>
              </p:ext>
            </p:extLst>
          </p:nvPr>
        </p:nvGraphicFramePr>
        <p:xfrm>
          <a:off x="407323" y="1501716"/>
          <a:ext cx="11380124" cy="4854634"/>
        </p:xfrm>
        <a:graphic>
          <a:graphicData uri="http://schemas.openxmlformats.org/drawingml/2006/table">
            <a:tbl>
              <a:tblPr firstRow="1" bandRow="1">
                <a:tableStyleId>{5C22544A-7EE6-4342-B048-85BDC9FD1C3A}</a:tableStyleId>
              </a:tblPr>
              <a:tblGrid>
                <a:gridCol w="1596044"/>
                <a:gridCol w="1463040"/>
                <a:gridCol w="2394066"/>
                <a:gridCol w="2144683"/>
                <a:gridCol w="2094807"/>
                <a:gridCol w="1687484"/>
              </a:tblGrid>
              <a:tr h="454900">
                <a:tc>
                  <a:txBody>
                    <a:bodyPr/>
                    <a:lstStyle/>
                    <a:p>
                      <a:pPr algn="ctr"/>
                      <a:r>
                        <a:rPr lang="en-US" dirty="0" smtClean="0">
                          <a:solidFill>
                            <a:schemeClr val="tx1"/>
                          </a:solidFill>
                        </a:rPr>
                        <a:t>TITLE</a:t>
                      </a:r>
                      <a:endParaRPr lang="en-IN" dirty="0">
                        <a:solidFill>
                          <a:schemeClr val="tx1"/>
                        </a:solidFill>
                      </a:endParaRPr>
                    </a:p>
                  </a:txBody>
                  <a:tcPr/>
                </a:tc>
                <a:tc>
                  <a:txBody>
                    <a:bodyPr/>
                    <a:lstStyle/>
                    <a:p>
                      <a:pPr algn="ctr"/>
                      <a:r>
                        <a:rPr lang="en-US" dirty="0" smtClean="0">
                          <a:solidFill>
                            <a:schemeClr val="tx1"/>
                          </a:solidFill>
                        </a:rPr>
                        <a:t>AUTHORS</a:t>
                      </a:r>
                      <a:endParaRPr lang="en-IN" dirty="0">
                        <a:solidFill>
                          <a:schemeClr val="tx1"/>
                        </a:solidFill>
                      </a:endParaRPr>
                    </a:p>
                  </a:txBody>
                  <a:tcPr/>
                </a:tc>
                <a:tc>
                  <a:txBody>
                    <a:bodyPr/>
                    <a:lstStyle/>
                    <a:p>
                      <a:pPr algn="ctr"/>
                      <a:r>
                        <a:rPr lang="en-US" dirty="0" smtClean="0">
                          <a:solidFill>
                            <a:schemeClr val="tx1"/>
                          </a:solidFill>
                        </a:rPr>
                        <a:t>METHODOLOGY</a:t>
                      </a:r>
                      <a:endParaRPr lang="en-IN" dirty="0">
                        <a:solidFill>
                          <a:schemeClr val="tx1"/>
                        </a:solidFill>
                      </a:endParaRPr>
                    </a:p>
                  </a:txBody>
                  <a:tcPr/>
                </a:tc>
                <a:tc>
                  <a:txBody>
                    <a:bodyPr/>
                    <a:lstStyle/>
                    <a:p>
                      <a:pPr algn="ctr"/>
                      <a:r>
                        <a:rPr lang="en-US" dirty="0" smtClean="0">
                          <a:solidFill>
                            <a:schemeClr val="tx1"/>
                          </a:solidFill>
                        </a:rPr>
                        <a:t>DRAWBACKS</a:t>
                      </a:r>
                      <a:endParaRPr lang="en-IN" dirty="0">
                        <a:solidFill>
                          <a:schemeClr val="tx1"/>
                        </a:solidFill>
                      </a:endParaRPr>
                    </a:p>
                  </a:txBody>
                  <a:tcPr/>
                </a:tc>
                <a:tc>
                  <a:txBody>
                    <a:bodyPr/>
                    <a:lstStyle/>
                    <a:p>
                      <a:pPr algn="ctr"/>
                      <a:r>
                        <a:rPr lang="en-US" dirty="0" smtClean="0">
                          <a:solidFill>
                            <a:schemeClr val="tx1"/>
                          </a:solidFill>
                        </a:rPr>
                        <a:t>RESULTS</a:t>
                      </a:r>
                      <a:endParaRPr lang="en-IN" dirty="0">
                        <a:solidFill>
                          <a:schemeClr val="tx1"/>
                        </a:solidFill>
                      </a:endParaRPr>
                    </a:p>
                  </a:txBody>
                  <a:tcPr/>
                </a:tc>
                <a:tc>
                  <a:txBody>
                    <a:bodyPr/>
                    <a:lstStyle/>
                    <a:p>
                      <a:pPr algn="ctr"/>
                      <a:r>
                        <a:rPr lang="en-US" dirty="0" smtClean="0">
                          <a:solidFill>
                            <a:schemeClr val="tx1"/>
                          </a:solidFill>
                        </a:rPr>
                        <a:t>LINK</a:t>
                      </a:r>
                      <a:endParaRPr lang="en-IN" dirty="0">
                        <a:solidFill>
                          <a:schemeClr val="tx1"/>
                        </a:solidFill>
                      </a:endParaRPr>
                    </a:p>
                  </a:txBody>
                  <a:tcPr/>
                </a:tc>
              </a:tr>
              <a:tr h="4399734">
                <a:tc>
                  <a:txBody>
                    <a:bodyPr/>
                    <a:lstStyle/>
                    <a:p>
                      <a:pPr algn="l"/>
                      <a:r>
                        <a:rPr lang="en-US" sz="1800" dirty="0" smtClean="0">
                          <a:latin typeface="Garamond" panose="02020404030301010803" pitchFamily="18" charset="0"/>
                        </a:rPr>
                        <a:t>Deep Convolutional Generative Adversarial Networks for Crime Scene Object Detection</a:t>
                      </a:r>
                      <a:endParaRPr lang="en-IN" sz="1800" b="1" dirty="0">
                        <a:latin typeface="Garamond" panose="02020404030301010803" pitchFamily="18" charset="0"/>
                        <a:cs typeface="Times New Roman" panose="02020603050405020304" pitchFamily="18" charset="0"/>
                      </a:endParaRPr>
                    </a:p>
                  </a:txBody>
                  <a:tcPr/>
                </a:tc>
                <a:tc>
                  <a:txBody>
                    <a:bodyPr/>
                    <a:lstStyle/>
                    <a:p>
                      <a:pPr algn="l"/>
                      <a:r>
                        <a:rPr lang="pl-PL" sz="1800" dirty="0" smtClean="0">
                          <a:latin typeface="Garamond" panose="02020404030301010803" pitchFamily="18" charset="0"/>
                        </a:rPr>
                        <a:t>Uma N</a:t>
                      </a:r>
                      <a:endParaRPr lang="en-IN" sz="1800" dirty="0">
                        <a:latin typeface="Garamond" panose="02020404030301010803" pitchFamily="18" charset="0"/>
                        <a:cs typeface="Times New Roman" panose="02020603050405020304" pitchFamily="18" charset="0"/>
                      </a:endParaRPr>
                    </a:p>
                  </a:txBody>
                  <a:tcPr/>
                </a:tc>
                <a:tc>
                  <a:txBody>
                    <a:bodyPr/>
                    <a:lstStyle/>
                    <a:p>
                      <a:pPr algn="l"/>
                      <a:r>
                        <a:rPr lang="en-US" sz="1800" dirty="0" smtClean="0">
                          <a:latin typeface="Garamond" panose="02020404030301010803" pitchFamily="18" charset="0"/>
                        </a:rPr>
                        <a:t>Employ Deep Convolutional GANs with perceptual loss functions, feature pyramid networks, and attention mechanisms to generate high-resolution images, enhancing object detection in crime scenes using benchmark datasets.</a:t>
                      </a:r>
                      <a:endParaRPr lang="en-IN" sz="1800" dirty="0">
                        <a:latin typeface="Garamond" panose="02020404030301010803" pitchFamily="18" charset="0"/>
                        <a:cs typeface="Times New Roman" panose="02020603050405020304" pitchFamily="18" charset="0"/>
                      </a:endParaRPr>
                    </a:p>
                  </a:txBody>
                  <a:tcPr/>
                </a:tc>
                <a:tc>
                  <a:txBody>
                    <a:bodyPr/>
                    <a:lstStyle/>
                    <a:p>
                      <a:pPr algn="l"/>
                      <a:r>
                        <a:rPr lang="en-US" sz="1800" dirty="0" smtClean="0">
                          <a:latin typeface="Garamond" panose="02020404030301010803" pitchFamily="18" charset="0"/>
                        </a:rPr>
                        <a:t>May face limitations with diverse crime scene complexities, requires extensive computational power, and could encounter challenges in achieving real-time detection due to GAN model processing demands.</a:t>
                      </a:r>
                      <a:endParaRPr lang="en-IN" sz="1800" dirty="0">
                        <a:latin typeface="Garamond" panose="02020404030301010803" pitchFamily="18" charset="0"/>
                        <a:cs typeface="Times New Roman" panose="02020603050405020304" pitchFamily="18" charset="0"/>
                      </a:endParaRPr>
                    </a:p>
                  </a:txBody>
                  <a:tcPr/>
                </a:tc>
                <a:tc>
                  <a:txBody>
                    <a:bodyPr/>
                    <a:lstStyle/>
                    <a:p>
                      <a:pPr algn="l"/>
                      <a:r>
                        <a:rPr lang="en-US" sz="1800" dirty="0" smtClean="0">
                          <a:latin typeface="Garamond" panose="02020404030301010803" pitchFamily="18" charset="0"/>
                        </a:rPr>
                        <a:t>The approach improves crime object detection with 98.56% accuracy, demonstrating effectiveness, yet further optimization is needed for handling diverse scenarios and reducing computational requirements for practical deployment.</a:t>
                      </a:r>
                      <a:endParaRPr lang="en-IN" sz="1800" dirty="0">
                        <a:latin typeface="Garamond" panose="02020404030301010803" pitchFamily="18" charset="0"/>
                        <a:cs typeface="Times New Roman" panose="02020603050405020304" pitchFamily="18" charset="0"/>
                      </a:endParaRPr>
                    </a:p>
                  </a:txBody>
                  <a:tcPr/>
                </a:tc>
                <a:tc>
                  <a:txBody>
                    <a:bodyPr/>
                    <a:lstStyle/>
                    <a:p>
                      <a:r>
                        <a:rPr lang="en-IN" sz="1800" dirty="0" smtClean="0">
                          <a:latin typeface="Garamond" panose="02020404030301010803" pitchFamily="18" charset="0"/>
                          <a:hlinkClick r:id="rId2"/>
                        </a:rPr>
                        <a:t>https://ieeexplore.ieee.org/document/10250517</a:t>
                      </a:r>
                      <a:endParaRPr lang="en-IN" dirty="0"/>
                    </a:p>
                  </a:txBody>
                  <a:tcPr/>
                </a:tc>
              </a:tr>
            </a:tbl>
          </a:graphicData>
        </a:graphic>
      </p:graphicFrame>
    </p:spTree>
    <p:extLst>
      <p:ext uri="{BB962C8B-B14F-4D97-AF65-F5344CB8AC3E}">
        <p14:creationId xmlns:p14="http://schemas.microsoft.com/office/powerpoint/2010/main" val="3303175181"/>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28D705-6744-7EC3-6B8A-2CE8EBFA5319}"/>
              </a:ext>
            </a:extLst>
          </p:cNvPr>
          <p:cNvSpPr>
            <a:spLocks noGrp="1"/>
          </p:cNvSpPr>
          <p:nvPr>
            <p:ph type="title"/>
          </p:nvPr>
        </p:nvSpPr>
        <p:spPr>
          <a:xfrm>
            <a:off x="814647" y="437432"/>
            <a:ext cx="9806941" cy="884292"/>
          </a:xfrm>
        </p:spPr>
        <p:txBody>
          <a:bodyPr>
            <a:normAutofit/>
          </a:bodyPr>
          <a:lstStyle/>
          <a:p>
            <a:pPr algn="ctr"/>
            <a:r>
              <a:rPr lang="en-US" sz="4000" b="1" dirty="0">
                <a:latin typeface="Times New Roman" panose="02020603050405020304" pitchFamily="18" charset="0"/>
                <a:cs typeface="Times New Roman" panose="02020603050405020304" pitchFamily="18" charset="0"/>
              </a:rPr>
              <a:t>PROJECT SCHEDULES/GANTT </a:t>
            </a:r>
            <a:r>
              <a:rPr lang="en-US" sz="4000" b="1" dirty="0" smtClean="0">
                <a:latin typeface="Times New Roman" panose="02020603050405020304" pitchFamily="18" charset="0"/>
                <a:cs typeface="Times New Roman" panose="02020603050405020304" pitchFamily="18" charset="0"/>
              </a:rPr>
              <a:t>CHART</a:t>
            </a:r>
            <a:endParaRPr lang="en-IN" sz="40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xmlns="" id="{05CDA1EC-D524-E4C5-B856-A14078549AC4}"/>
              </a:ext>
            </a:extLst>
          </p:cNvPr>
          <p:cNvSpPr>
            <a:spLocks noGrp="1"/>
          </p:cNvSpPr>
          <p:nvPr>
            <p:ph type="sldNum" sz="quarter" idx="12"/>
          </p:nvPr>
        </p:nvSpPr>
        <p:spPr/>
        <p:txBody>
          <a:bodyPr/>
          <a:lstStyle/>
          <a:p>
            <a:fld id="{249020A1-FA28-4834-83A8-C0CE35CB1668}" type="slidenum">
              <a:rPr lang="en-IN" smtClean="0"/>
              <a:pPr/>
              <a:t>14</a:t>
            </a:fld>
            <a:endParaRPr lang="en-IN"/>
          </a:p>
        </p:txBody>
      </p:sp>
      <p:pic>
        <p:nvPicPr>
          <p:cNvPr id="5"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0026" y="1720013"/>
            <a:ext cx="8936181" cy="4539470"/>
          </a:xfrm>
          <a:prstGeom prst="rect">
            <a:avLst/>
          </a:prstGeom>
        </p:spPr>
      </p:pic>
    </p:spTree>
    <p:extLst>
      <p:ext uri="{BB962C8B-B14F-4D97-AF65-F5344CB8AC3E}">
        <p14:creationId xmlns:p14="http://schemas.microsoft.com/office/powerpoint/2010/main" val="3440127031"/>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BD69C9-9F74-42DE-A5C0-EA9DAD5502DE}"/>
              </a:ext>
            </a:extLst>
          </p:cNvPr>
          <p:cNvSpPr>
            <a:spLocks noGrp="1"/>
          </p:cNvSpPr>
          <p:nvPr>
            <p:ph type="title"/>
          </p:nvPr>
        </p:nvSpPr>
        <p:spPr>
          <a:xfrm>
            <a:off x="1238596" y="365126"/>
            <a:ext cx="9260379" cy="715530"/>
          </a:xfrm>
        </p:spPr>
        <p:txBody>
          <a:bodyPr>
            <a:normAutofit fontScale="90000"/>
          </a:bodyPr>
          <a:lstStyle/>
          <a:p>
            <a:pPr algn="ctr"/>
            <a:r>
              <a:rPr lang="en-US" b="1" dirty="0" smtClean="0">
                <a:latin typeface="Times New Roman" panose="02020603050405020304" pitchFamily="18" charset="0"/>
                <a:cs typeface="Times New Roman" panose="02020603050405020304" pitchFamily="18" charset="0"/>
              </a:rPr>
              <a:t>REQUIREMENTS SPECIFICATION</a:t>
            </a:r>
            <a:endParaRPr lang="en-IN"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xmlns="" id="{8DF23BB3-07E6-8297-6513-DA7950BD2CA1}"/>
              </a:ext>
            </a:extLst>
          </p:cNvPr>
          <p:cNvSpPr>
            <a:spLocks noGrp="1"/>
          </p:cNvSpPr>
          <p:nvPr>
            <p:ph type="sldNum" sz="quarter" idx="12"/>
          </p:nvPr>
        </p:nvSpPr>
        <p:spPr/>
        <p:txBody>
          <a:bodyPr/>
          <a:lstStyle/>
          <a:p>
            <a:fld id="{249020A1-FA28-4834-83A8-C0CE35CB1668}" type="slidenum">
              <a:rPr lang="en-IN" smtClean="0"/>
              <a:pPr/>
              <a:t>15</a:t>
            </a:fld>
            <a:endParaRPr lang="en-IN"/>
          </a:p>
        </p:txBody>
      </p:sp>
      <p:sp>
        <p:nvSpPr>
          <p:cNvPr id="4" name="TextBox 3"/>
          <p:cNvSpPr txBox="1"/>
          <p:nvPr/>
        </p:nvSpPr>
        <p:spPr>
          <a:xfrm>
            <a:off x="1014153" y="1368266"/>
            <a:ext cx="4372495" cy="5170646"/>
          </a:xfrm>
          <a:prstGeom prst="rect">
            <a:avLst/>
          </a:prstGeom>
          <a:noFill/>
        </p:spPr>
        <p:txBody>
          <a:bodyPr wrap="square" rtlCol="0">
            <a:spAutoFit/>
          </a:bodyPr>
          <a:lstStyle/>
          <a:p>
            <a:r>
              <a:rPr lang="en-US" sz="2200" b="1" dirty="0" smtClean="0">
                <a:latin typeface="Times New Roman" panose="02020603050405020304" pitchFamily="18" charset="0"/>
                <a:cs typeface="Times New Roman" panose="02020603050405020304" pitchFamily="18" charset="0"/>
              </a:rPr>
              <a:t>Requirement Specification</a:t>
            </a:r>
          </a:p>
          <a:p>
            <a:endParaRPr lang="en-US" sz="2200" b="1" dirty="0" smtClean="0">
              <a:latin typeface="Times New Roman" panose="02020603050405020304" pitchFamily="18" charset="0"/>
              <a:cs typeface="Times New Roman" panose="02020603050405020304" pitchFamily="18" charset="0"/>
            </a:endParaRPr>
          </a:p>
          <a:p>
            <a:pPr marL="342900" indent="-342900">
              <a:lnSpc>
                <a:spcPct val="100000"/>
              </a:lnSpc>
              <a:buClrTx/>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Python IDLE ( </a:t>
            </a:r>
            <a:r>
              <a:rPr lang="en-US" sz="2200" dirty="0" smtClean="0">
                <a:latin typeface="Times New Roman" panose="02020603050405020304" pitchFamily="18" charset="0"/>
                <a:cs typeface="Times New Roman" panose="02020603050405020304" pitchFamily="18" charset="0"/>
              </a:rPr>
              <a:t>3.7.0)</a:t>
            </a:r>
          </a:p>
          <a:p>
            <a:pPr marL="342900" indent="-342900">
              <a:lnSpc>
                <a:spcPct val="100000"/>
              </a:lnSpc>
              <a:buClrTx/>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Node </a:t>
            </a:r>
            <a:r>
              <a:rPr lang="en-US" sz="2200" dirty="0" err="1" smtClean="0">
                <a:latin typeface="Times New Roman" panose="02020603050405020304" pitchFamily="18" charset="0"/>
                <a:cs typeface="Times New Roman" panose="02020603050405020304" pitchFamily="18" charset="0"/>
              </a:rPr>
              <a:t>Js</a:t>
            </a:r>
            <a:endParaRPr lang="en-US" sz="2200" dirty="0" smtClean="0">
              <a:latin typeface="Times New Roman" panose="02020603050405020304" pitchFamily="18" charset="0"/>
              <a:cs typeface="Times New Roman" panose="02020603050405020304" pitchFamily="18" charset="0"/>
            </a:endParaRPr>
          </a:p>
          <a:p>
            <a:pPr marL="342900" indent="-342900">
              <a:lnSpc>
                <a:spcPct val="100000"/>
              </a:lnSpc>
              <a:buClrTx/>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Visual </a:t>
            </a:r>
            <a:r>
              <a:rPr lang="en-US" sz="2200" dirty="0">
                <a:latin typeface="Times New Roman" panose="02020603050405020304" pitchFamily="18" charset="0"/>
                <a:cs typeface="Times New Roman" panose="02020603050405020304" pitchFamily="18" charset="0"/>
              </a:rPr>
              <a:t>Studio Community </a:t>
            </a:r>
            <a:r>
              <a:rPr lang="en-US" sz="2200" dirty="0" smtClean="0">
                <a:latin typeface="Times New Roman" panose="02020603050405020304" pitchFamily="18" charset="0"/>
                <a:cs typeface="Times New Roman" panose="02020603050405020304" pitchFamily="18" charset="0"/>
              </a:rPr>
              <a:t>Version</a:t>
            </a:r>
          </a:p>
          <a:p>
            <a:pPr marL="342900" indent="-342900">
              <a:lnSpc>
                <a:spcPct val="100000"/>
              </a:lnSpc>
              <a:buClrTx/>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Ganache</a:t>
            </a:r>
          </a:p>
          <a:p>
            <a:pPr marL="342900" indent="-342900">
              <a:lnSpc>
                <a:spcPct val="100000"/>
              </a:lnSpc>
              <a:buClrTx/>
              <a:buFont typeface="Arial" panose="020B0604020202020204" pitchFamily="34" charset="0"/>
              <a:buChar char="•"/>
            </a:pPr>
            <a:r>
              <a:rPr lang="en-US" sz="2200" dirty="0" err="1" smtClean="0">
                <a:latin typeface="Times New Roman" panose="02020603050405020304" pitchFamily="18" charset="0"/>
                <a:cs typeface="Times New Roman" panose="02020603050405020304" pitchFamily="18" charset="0"/>
              </a:rPr>
              <a:t>MetaMask</a:t>
            </a:r>
            <a:r>
              <a:rPr lang="en-US" sz="2200" dirty="0" smtClean="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 Chrome </a:t>
            </a:r>
            <a:r>
              <a:rPr lang="en-US" sz="2200" dirty="0" smtClean="0">
                <a:latin typeface="Times New Roman" panose="02020603050405020304" pitchFamily="18" charset="0"/>
                <a:cs typeface="Times New Roman" panose="02020603050405020304" pitchFamily="18" charset="0"/>
              </a:rPr>
              <a:t>Extension</a:t>
            </a:r>
          </a:p>
          <a:p>
            <a:pPr>
              <a:lnSpc>
                <a:spcPct val="100000"/>
              </a:lnSpc>
              <a:buClrTx/>
            </a:pPr>
            <a:endParaRPr lang="en-US" sz="2200" dirty="0">
              <a:latin typeface="Times New Roman" panose="02020603050405020304" pitchFamily="18" charset="0"/>
              <a:cs typeface="Times New Roman" panose="02020603050405020304" pitchFamily="18" charset="0"/>
            </a:endParaRPr>
          </a:p>
          <a:p>
            <a:pPr>
              <a:lnSpc>
                <a:spcPct val="100000"/>
              </a:lnSpc>
              <a:buNone/>
            </a:pPr>
            <a:r>
              <a:rPr lang="en-US" sz="2200" b="1" dirty="0">
                <a:latin typeface="Times New Roman" panose="02020603050405020304" pitchFamily="18" charset="0"/>
                <a:cs typeface="Times New Roman" panose="02020603050405020304" pitchFamily="18" charset="0"/>
              </a:rPr>
              <a:t>Back-end </a:t>
            </a:r>
            <a:r>
              <a:rPr lang="en-US" sz="2200" b="1" dirty="0" smtClean="0">
                <a:latin typeface="Times New Roman" panose="02020603050405020304" pitchFamily="18" charset="0"/>
                <a:cs typeface="Times New Roman" panose="02020603050405020304" pitchFamily="18" charset="0"/>
              </a:rPr>
              <a:t>Languages</a:t>
            </a:r>
          </a:p>
          <a:p>
            <a:pPr>
              <a:lnSpc>
                <a:spcPct val="100000"/>
              </a:lnSpc>
              <a:buNone/>
            </a:pPr>
            <a:endParaRPr lang="en-US" sz="2200" b="1" dirty="0">
              <a:latin typeface="Times New Roman" panose="02020603050405020304" pitchFamily="18" charset="0"/>
              <a:cs typeface="Times New Roman" panose="02020603050405020304" pitchFamily="18" charset="0"/>
            </a:endParaRPr>
          </a:p>
          <a:p>
            <a:pPr marL="342900" indent="-342900">
              <a:lnSpc>
                <a:spcPct val="100000"/>
              </a:lnSpc>
              <a:buClrTx/>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Python</a:t>
            </a:r>
          </a:p>
          <a:p>
            <a:pPr marL="342900" indent="-342900">
              <a:lnSpc>
                <a:spcPct val="100000"/>
              </a:lnSpc>
              <a:buClrTx/>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Java Script</a:t>
            </a:r>
          </a:p>
          <a:p>
            <a:pPr marL="342900" indent="-342900">
              <a:lnSpc>
                <a:spcPct val="100000"/>
              </a:lnSpc>
              <a:buClrTx/>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Solidity</a:t>
            </a:r>
          </a:p>
          <a:p>
            <a:pPr marL="342900" indent="-342900">
              <a:lnSpc>
                <a:spcPct val="100000"/>
              </a:lnSpc>
              <a:buClrTx/>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Framework </a:t>
            </a:r>
          </a:p>
          <a:p>
            <a:pPr marL="342900" indent="-342900">
              <a:lnSpc>
                <a:spcPct val="100000"/>
              </a:lnSpc>
              <a:buClrTx/>
              <a:buFont typeface="Arial" panose="020B0604020202020204" pitchFamily="34" charset="0"/>
              <a:buChar char="•"/>
            </a:pPr>
            <a:r>
              <a:rPr lang="en-US" sz="2200" dirty="0" smtClean="0">
                <a:latin typeface="Times New Roman" panose="02020603050405020304" pitchFamily="18" charset="0"/>
                <a:cs typeface="Times New Roman" panose="02020603050405020304" pitchFamily="18" charset="0"/>
              </a:rPr>
              <a:t>Django</a:t>
            </a:r>
            <a:endParaRPr lang="en-US" sz="2200" dirty="0">
              <a:latin typeface="Times New Roman" panose="02020603050405020304" pitchFamily="18" charset="0"/>
              <a:cs typeface="Times New Roman" panose="02020603050405020304" pitchFamily="18" charset="0"/>
            </a:endParaRPr>
          </a:p>
        </p:txBody>
      </p:sp>
      <p:sp>
        <p:nvSpPr>
          <p:cNvPr id="6" name="TextBox 5"/>
          <p:cNvSpPr txBox="1"/>
          <p:nvPr/>
        </p:nvSpPr>
        <p:spPr>
          <a:xfrm>
            <a:off x="6043354" y="1368266"/>
            <a:ext cx="4688378" cy="4862870"/>
          </a:xfrm>
          <a:prstGeom prst="rect">
            <a:avLst/>
          </a:prstGeom>
          <a:noFill/>
        </p:spPr>
        <p:txBody>
          <a:bodyPr wrap="square" rtlCol="0">
            <a:spAutoFit/>
          </a:bodyPr>
          <a:lstStyle/>
          <a:p>
            <a:pPr lvl="0">
              <a:spcBef>
                <a:spcPts val="1230"/>
              </a:spcBef>
              <a:buClrTx/>
              <a:buSzPct val="60000"/>
              <a:defRPr/>
            </a:pPr>
            <a:r>
              <a:rPr lang="en-US" sz="2200" b="1" dirty="0" smtClean="0">
                <a:solidFill>
                  <a:sysClr val="windowText" lastClr="000000"/>
                </a:solidFill>
                <a:latin typeface="Times New Roman" panose="02020603050405020304" pitchFamily="18" charset="0"/>
                <a:cs typeface="Times New Roman" panose="02020603050405020304" pitchFamily="18" charset="0"/>
              </a:rPr>
              <a:t>Front-end Languages</a:t>
            </a:r>
          </a:p>
          <a:p>
            <a:pPr marL="342900" lvl="0" indent="-342900">
              <a:spcBef>
                <a:spcPts val="1230"/>
              </a:spcBef>
              <a:buClrTx/>
              <a:buSzPct val="100000"/>
              <a:buFont typeface="Arial" panose="020B0604020202020204" pitchFamily="34" charset="0"/>
              <a:buChar char="•"/>
              <a:defRPr/>
            </a:pPr>
            <a:r>
              <a:rPr lang="en-US" sz="2200" dirty="0" smtClean="0">
                <a:solidFill>
                  <a:sysClr val="windowText" lastClr="000000"/>
                </a:solidFill>
                <a:latin typeface="Times New Roman" panose="02020603050405020304" pitchFamily="18" charset="0"/>
                <a:cs typeface="Times New Roman" panose="02020603050405020304" pitchFamily="18" charset="0"/>
              </a:rPr>
              <a:t>HTML</a:t>
            </a:r>
          </a:p>
          <a:p>
            <a:pPr marL="342900" lvl="0" indent="-342900">
              <a:spcBef>
                <a:spcPts val="1230"/>
              </a:spcBef>
              <a:buClrTx/>
              <a:buSzPct val="100000"/>
              <a:buFont typeface="Arial" panose="020B0604020202020204" pitchFamily="34" charset="0"/>
              <a:buChar char="•"/>
              <a:defRPr/>
            </a:pPr>
            <a:r>
              <a:rPr lang="en-US" sz="2200" dirty="0" smtClean="0">
                <a:solidFill>
                  <a:sysClr val="windowText" lastClr="000000"/>
                </a:solidFill>
                <a:latin typeface="Times New Roman" panose="02020603050405020304" pitchFamily="18" charset="0"/>
                <a:cs typeface="Times New Roman" panose="02020603050405020304" pitchFamily="18" charset="0"/>
              </a:rPr>
              <a:t>CSS</a:t>
            </a:r>
          </a:p>
          <a:p>
            <a:pPr marL="342900" lvl="0" indent="-342900">
              <a:spcBef>
                <a:spcPts val="1230"/>
              </a:spcBef>
              <a:buClrTx/>
              <a:buSzPct val="100000"/>
              <a:buFont typeface="Arial" panose="020B0604020202020204" pitchFamily="34" charset="0"/>
              <a:buChar char="•"/>
              <a:defRPr/>
            </a:pPr>
            <a:r>
              <a:rPr lang="en-US" sz="2200" dirty="0" smtClean="0">
                <a:solidFill>
                  <a:sysClr val="windowText" lastClr="000000"/>
                </a:solidFill>
                <a:latin typeface="Times New Roman" panose="02020603050405020304" pitchFamily="18" charset="0"/>
                <a:cs typeface="Times New Roman" panose="02020603050405020304" pitchFamily="18" charset="0"/>
              </a:rPr>
              <a:t>JS</a:t>
            </a:r>
          </a:p>
          <a:p>
            <a:pPr marL="342900" lvl="0" indent="-342900">
              <a:spcBef>
                <a:spcPts val="1230"/>
              </a:spcBef>
              <a:buClrTx/>
              <a:buSzPct val="100000"/>
              <a:buFont typeface="Arial" panose="020B0604020202020204" pitchFamily="34" charset="0"/>
              <a:buChar char="•"/>
              <a:defRPr/>
            </a:pPr>
            <a:r>
              <a:rPr lang="en-US" sz="2200" dirty="0" smtClean="0">
                <a:solidFill>
                  <a:sysClr val="windowText" lastClr="000000"/>
                </a:solidFill>
                <a:latin typeface="Times New Roman" panose="02020603050405020304" pitchFamily="18" charset="0"/>
                <a:cs typeface="Times New Roman" panose="02020603050405020304" pitchFamily="18" charset="0"/>
              </a:rPr>
              <a:t>Bootstrap4</a:t>
            </a:r>
          </a:p>
          <a:p>
            <a:pPr lvl="0">
              <a:spcBef>
                <a:spcPts val="1230"/>
              </a:spcBef>
              <a:buClr>
                <a:srgbClr val="F9BD66"/>
              </a:buClr>
              <a:buSzPct val="60000"/>
              <a:defRPr/>
            </a:pPr>
            <a:endParaRPr lang="en-US" sz="2200" b="1" dirty="0" smtClean="0">
              <a:solidFill>
                <a:sysClr val="windowText" lastClr="000000"/>
              </a:solidFill>
              <a:latin typeface="Times New Roman" panose="02020603050405020304" pitchFamily="18" charset="0"/>
              <a:cs typeface="Times New Roman" panose="02020603050405020304" pitchFamily="18" charset="0"/>
            </a:endParaRPr>
          </a:p>
          <a:p>
            <a:pPr lvl="0">
              <a:spcBef>
                <a:spcPts val="1230"/>
              </a:spcBef>
              <a:buClr>
                <a:srgbClr val="F9BD66"/>
              </a:buClr>
              <a:buSzPct val="60000"/>
              <a:defRPr/>
            </a:pPr>
            <a:r>
              <a:rPr lang="en-US" sz="2200" b="1" dirty="0" smtClean="0">
                <a:solidFill>
                  <a:sysClr val="windowText" lastClr="000000"/>
                </a:solidFill>
                <a:latin typeface="Times New Roman" panose="02020603050405020304" pitchFamily="18" charset="0"/>
                <a:cs typeface="Times New Roman" panose="02020603050405020304" pitchFamily="18" charset="0"/>
              </a:rPr>
              <a:t>Hardware </a:t>
            </a:r>
            <a:r>
              <a:rPr lang="en-US" sz="2200" b="1" dirty="0">
                <a:solidFill>
                  <a:sysClr val="windowText" lastClr="000000"/>
                </a:solidFill>
                <a:latin typeface="Times New Roman" panose="02020603050405020304" pitchFamily="18" charset="0"/>
                <a:cs typeface="Times New Roman" panose="02020603050405020304" pitchFamily="18" charset="0"/>
              </a:rPr>
              <a:t>Requirements</a:t>
            </a:r>
          </a:p>
          <a:p>
            <a:pPr marL="342900" lvl="0" indent="-342900">
              <a:spcBef>
                <a:spcPts val="1230"/>
              </a:spcBef>
              <a:buClrTx/>
              <a:buSzPct val="100000"/>
              <a:buFont typeface="Arial" panose="020B0604020202020204" pitchFamily="34" charset="0"/>
              <a:buChar char="•"/>
              <a:defRPr/>
            </a:pPr>
            <a:r>
              <a:rPr lang="en-US" sz="2200" dirty="0">
                <a:solidFill>
                  <a:sysClr val="windowText" lastClr="000000"/>
                </a:solidFill>
                <a:latin typeface="Times New Roman" panose="02020603050405020304" pitchFamily="18" charset="0"/>
                <a:cs typeface="Times New Roman" panose="02020603050405020304" pitchFamily="18" charset="0"/>
              </a:rPr>
              <a:t>Processor   : i5 and </a:t>
            </a:r>
            <a:r>
              <a:rPr lang="en-US" sz="2200" dirty="0" smtClean="0">
                <a:solidFill>
                  <a:sysClr val="windowText" lastClr="000000"/>
                </a:solidFill>
                <a:latin typeface="Times New Roman" panose="02020603050405020304" pitchFamily="18" charset="0"/>
                <a:cs typeface="Times New Roman" panose="02020603050405020304" pitchFamily="18" charset="0"/>
              </a:rPr>
              <a:t>above</a:t>
            </a:r>
          </a:p>
          <a:p>
            <a:pPr marL="342900" lvl="0" indent="-342900">
              <a:spcBef>
                <a:spcPts val="1230"/>
              </a:spcBef>
              <a:buClrTx/>
              <a:buSzPct val="100000"/>
              <a:buFont typeface="Arial" panose="020B0604020202020204" pitchFamily="34" charset="0"/>
              <a:buChar char="•"/>
              <a:defRPr/>
            </a:pPr>
            <a:r>
              <a:rPr lang="en-US" sz="2200" dirty="0" smtClean="0">
                <a:solidFill>
                  <a:sysClr val="windowText" lastClr="000000"/>
                </a:solidFill>
                <a:latin typeface="Times New Roman" panose="02020603050405020304" pitchFamily="18" charset="0"/>
                <a:cs typeface="Times New Roman" panose="02020603050405020304" pitchFamily="18" charset="0"/>
              </a:rPr>
              <a:t>RAM         </a:t>
            </a:r>
            <a:r>
              <a:rPr lang="en-US" sz="2200" dirty="0">
                <a:solidFill>
                  <a:sysClr val="windowText" lastClr="000000"/>
                </a:solidFill>
                <a:latin typeface="Times New Roman" panose="02020603050405020304" pitchFamily="18" charset="0"/>
                <a:cs typeface="Times New Roman" panose="02020603050405020304" pitchFamily="18" charset="0"/>
              </a:rPr>
              <a:t>: 8GB and </a:t>
            </a:r>
            <a:r>
              <a:rPr lang="en-US" sz="2200" dirty="0" smtClean="0">
                <a:solidFill>
                  <a:sysClr val="windowText" lastClr="000000"/>
                </a:solidFill>
                <a:latin typeface="Times New Roman" panose="02020603050405020304" pitchFamily="18" charset="0"/>
                <a:cs typeface="Times New Roman" panose="02020603050405020304" pitchFamily="18" charset="0"/>
              </a:rPr>
              <a:t>above</a:t>
            </a:r>
          </a:p>
          <a:p>
            <a:pPr marL="342900" lvl="0" indent="-342900">
              <a:spcBef>
                <a:spcPts val="1230"/>
              </a:spcBef>
              <a:buClrTx/>
              <a:buSzPct val="100000"/>
              <a:buFont typeface="Arial" panose="020B0604020202020204" pitchFamily="34" charset="0"/>
              <a:buChar char="•"/>
              <a:defRPr/>
            </a:pPr>
            <a:r>
              <a:rPr lang="en-US" sz="2200" dirty="0" smtClean="0">
                <a:solidFill>
                  <a:sysClr val="windowText" lastClr="000000"/>
                </a:solidFill>
                <a:latin typeface="Times New Roman" panose="02020603050405020304" pitchFamily="18" charset="0"/>
                <a:cs typeface="Times New Roman" panose="02020603050405020304" pitchFamily="18" charset="0"/>
              </a:rPr>
              <a:t>ROM         </a:t>
            </a:r>
            <a:r>
              <a:rPr lang="en-US" sz="2200" dirty="0">
                <a:solidFill>
                  <a:sysClr val="windowText" lastClr="000000"/>
                </a:solidFill>
                <a:latin typeface="Times New Roman" panose="02020603050405020304" pitchFamily="18" charset="0"/>
                <a:cs typeface="Times New Roman" panose="02020603050405020304" pitchFamily="18" charset="0"/>
              </a:rPr>
              <a:t>: 20GB and above</a:t>
            </a:r>
          </a:p>
        </p:txBody>
      </p:sp>
    </p:spTree>
    <p:extLst>
      <p:ext uri="{BB962C8B-B14F-4D97-AF65-F5344CB8AC3E}">
        <p14:creationId xmlns:p14="http://schemas.microsoft.com/office/powerpoint/2010/main" val="2005306714"/>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DBD7D8-4AD0-E715-6663-1F9444C52385}"/>
              </a:ext>
            </a:extLst>
          </p:cNvPr>
          <p:cNvSpPr>
            <a:spLocks noGrp="1"/>
          </p:cNvSpPr>
          <p:nvPr>
            <p:ph type="title"/>
          </p:nvPr>
        </p:nvSpPr>
        <p:spPr>
          <a:xfrm>
            <a:off x="1238597" y="330999"/>
            <a:ext cx="9809018" cy="858911"/>
          </a:xfrm>
        </p:spPr>
        <p:txBody>
          <a:bodyPr>
            <a:noAutofit/>
          </a:bodyPr>
          <a:lstStyle/>
          <a:p>
            <a:pPr algn="ctr"/>
            <a:r>
              <a:rPr lang="en-US" sz="6000" b="1" dirty="0" smtClean="0">
                <a:latin typeface="Times New Roman" panose="02020603050405020304" pitchFamily="18" charset="0"/>
                <a:cs typeface="Times New Roman" panose="02020603050405020304" pitchFamily="18" charset="0"/>
              </a:rPr>
              <a:t>METHODOLOGY</a:t>
            </a:r>
            <a:endParaRPr lang="en-IN" sz="60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xmlns="" id="{9EF3164A-6E20-4461-B5BD-A547A487745B}"/>
              </a:ext>
            </a:extLst>
          </p:cNvPr>
          <p:cNvSpPr>
            <a:spLocks noGrp="1"/>
          </p:cNvSpPr>
          <p:nvPr>
            <p:ph type="sldNum" sz="quarter" idx="12"/>
          </p:nvPr>
        </p:nvSpPr>
        <p:spPr/>
        <p:txBody>
          <a:bodyPr/>
          <a:lstStyle/>
          <a:p>
            <a:fld id="{249020A1-FA28-4834-83A8-C0CE35CB1668}" type="slidenum">
              <a:rPr lang="en-IN" smtClean="0"/>
              <a:pPr/>
              <a:t>16</a:t>
            </a:fld>
            <a:endParaRPr lang="en-IN"/>
          </a:p>
        </p:txBody>
      </p:sp>
      <p:sp>
        <p:nvSpPr>
          <p:cNvPr id="5" name="TextBox 4">
            <a:extLst>
              <a:ext uri="{FF2B5EF4-FFF2-40B4-BE49-F238E27FC236}">
                <a16:creationId xmlns:a16="http://schemas.microsoft.com/office/drawing/2014/main" xmlns="" id="{BD6F1F80-99BD-588A-DB29-CB207308A10D}"/>
              </a:ext>
            </a:extLst>
          </p:cNvPr>
          <p:cNvSpPr txBox="1"/>
          <p:nvPr/>
        </p:nvSpPr>
        <p:spPr>
          <a:xfrm>
            <a:off x="665019" y="1278037"/>
            <a:ext cx="10956174" cy="5355312"/>
          </a:xfrm>
          <a:prstGeom prst="rect">
            <a:avLst/>
          </a:prstGeom>
          <a:noFill/>
        </p:spPr>
        <p:txBody>
          <a:bodyPr wrap="square">
            <a:spAutoFit/>
          </a:bodyPr>
          <a:lstStyle/>
          <a:p>
            <a:pPr marL="342900" lvl="0" indent="-342900">
              <a:lnSpc>
                <a:spcPct val="10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New User Sign up: </a:t>
            </a:r>
            <a:r>
              <a:rPr lang="en-IN" dirty="0">
                <a:latin typeface="Times New Roman" panose="02020603050405020304" pitchFamily="18" charset="0"/>
                <a:cs typeface="Times New Roman" panose="02020603050405020304" pitchFamily="18" charset="0"/>
              </a:rPr>
              <a:t>Using this module user can sign up with the </a:t>
            </a:r>
            <a:r>
              <a:rPr lang="en-IN" dirty="0" smtClean="0">
                <a:latin typeface="Times New Roman" panose="02020603050405020304" pitchFamily="18" charset="0"/>
                <a:cs typeface="Times New Roman" panose="02020603050405020304" pitchFamily="18" charset="0"/>
              </a:rPr>
              <a:t>application.</a:t>
            </a:r>
          </a:p>
          <a:p>
            <a:pPr lvl="0">
              <a:lnSpc>
                <a:spcPct val="100000"/>
              </a:lnSpc>
            </a:pPr>
            <a:endParaRPr lang="en-IN" dirty="0" smtClean="0">
              <a:latin typeface="Times New Roman" panose="02020603050405020304" pitchFamily="18" charset="0"/>
              <a:cs typeface="Times New Roman" panose="02020603050405020304" pitchFamily="18" charset="0"/>
            </a:endParaRPr>
          </a:p>
          <a:p>
            <a:pPr marL="342900" lvl="0" indent="-342900">
              <a:lnSpc>
                <a:spcPct val="100000"/>
              </a:lnSpc>
              <a:buFont typeface="Wingdings" panose="05000000000000000000" pitchFamily="2" charset="2"/>
              <a:buChar char="Ø"/>
            </a:pPr>
            <a:r>
              <a:rPr lang="en-IN" b="1" dirty="0" smtClean="0">
                <a:latin typeface="Times New Roman" panose="02020603050405020304" pitchFamily="18" charset="0"/>
                <a:cs typeface="Times New Roman" panose="02020603050405020304" pitchFamily="18" charset="0"/>
              </a:rPr>
              <a:t>User </a:t>
            </a:r>
            <a:r>
              <a:rPr lang="en-IN" b="1" dirty="0">
                <a:latin typeface="Times New Roman" panose="02020603050405020304" pitchFamily="18" charset="0"/>
                <a:cs typeface="Times New Roman" panose="02020603050405020304" pitchFamily="18" charset="0"/>
              </a:rPr>
              <a:t>Login: </a:t>
            </a:r>
            <a:r>
              <a:rPr lang="en-IN" dirty="0">
                <a:latin typeface="Times New Roman" panose="02020603050405020304" pitchFamily="18" charset="0"/>
                <a:cs typeface="Times New Roman" panose="02020603050405020304" pitchFamily="18" charset="0"/>
              </a:rPr>
              <a:t>Using this module user can login to application and all user details will be managed with server in AES encrypted </a:t>
            </a:r>
            <a:r>
              <a:rPr lang="en-IN" dirty="0" smtClean="0">
                <a:latin typeface="Times New Roman" panose="02020603050405020304" pitchFamily="18" charset="0"/>
                <a:cs typeface="Times New Roman" panose="02020603050405020304" pitchFamily="18" charset="0"/>
              </a:rPr>
              <a:t>format.</a:t>
            </a:r>
          </a:p>
          <a:p>
            <a:pPr lvl="0">
              <a:lnSpc>
                <a:spcPct val="100000"/>
              </a:lnSpc>
            </a:pPr>
            <a:endParaRPr lang="en-IN" dirty="0" smtClean="0">
              <a:latin typeface="Times New Roman" panose="02020603050405020304" pitchFamily="18" charset="0"/>
              <a:cs typeface="Times New Roman" panose="02020603050405020304" pitchFamily="18" charset="0"/>
            </a:endParaRPr>
          </a:p>
          <a:p>
            <a:pPr marL="342900" lvl="0" indent="-342900">
              <a:lnSpc>
                <a:spcPct val="100000"/>
              </a:lnSpc>
              <a:buFont typeface="Wingdings" panose="05000000000000000000" pitchFamily="2" charset="2"/>
              <a:buChar char="Ø"/>
            </a:pPr>
            <a:r>
              <a:rPr lang="en-IN" b="1" dirty="0" smtClean="0">
                <a:latin typeface="Times New Roman" panose="02020603050405020304" pitchFamily="18" charset="0"/>
                <a:cs typeface="Times New Roman" panose="02020603050405020304" pitchFamily="18" charset="0"/>
              </a:rPr>
              <a:t>Submit </a:t>
            </a:r>
            <a:r>
              <a:rPr lang="en-IN" b="1" dirty="0">
                <a:latin typeface="Times New Roman" panose="02020603050405020304" pitchFamily="18" charset="0"/>
                <a:cs typeface="Times New Roman" panose="02020603050405020304" pitchFamily="18" charset="0"/>
              </a:rPr>
              <a:t>your Tip: </a:t>
            </a:r>
            <a:r>
              <a:rPr lang="en-IN" dirty="0">
                <a:latin typeface="Times New Roman" panose="02020603050405020304" pitchFamily="18" charset="0"/>
                <a:cs typeface="Times New Roman" panose="02020603050405020304" pitchFamily="18" charset="0"/>
              </a:rPr>
              <a:t>After login using this module user can submit tip about any suspicious </a:t>
            </a:r>
            <a:r>
              <a:rPr lang="en-IN" dirty="0" smtClean="0">
                <a:latin typeface="Times New Roman" panose="02020603050405020304" pitchFamily="18" charset="0"/>
                <a:cs typeface="Times New Roman" panose="02020603050405020304" pitchFamily="18" charset="0"/>
              </a:rPr>
              <a:t>activities.</a:t>
            </a:r>
          </a:p>
          <a:p>
            <a:pPr lvl="0">
              <a:lnSpc>
                <a:spcPct val="100000"/>
              </a:lnSpc>
            </a:pPr>
            <a:endParaRPr lang="en-IN" dirty="0" smtClean="0">
              <a:latin typeface="Times New Roman" panose="02020603050405020304" pitchFamily="18" charset="0"/>
              <a:cs typeface="Times New Roman" panose="02020603050405020304" pitchFamily="18" charset="0"/>
            </a:endParaRPr>
          </a:p>
          <a:p>
            <a:pPr marL="342900" lvl="0" indent="-342900">
              <a:lnSpc>
                <a:spcPct val="100000"/>
              </a:lnSpc>
              <a:buFont typeface="Wingdings" panose="05000000000000000000" pitchFamily="2" charset="2"/>
              <a:buChar char="Ø"/>
            </a:pPr>
            <a:r>
              <a:rPr lang="en-IN" b="1" dirty="0" smtClean="0">
                <a:latin typeface="Times New Roman" panose="02020603050405020304" pitchFamily="18" charset="0"/>
                <a:cs typeface="Times New Roman" panose="02020603050405020304" pitchFamily="18" charset="0"/>
              </a:rPr>
              <a:t>View </a:t>
            </a:r>
            <a:r>
              <a:rPr lang="en-IN" b="1" dirty="0">
                <a:latin typeface="Times New Roman" panose="02020603050405020304" pitchFamily="18" charset="0"/>
                <a:cs typeface="Times New Roman" panose="02020603050405020304" pitchFamily="18" charset="0"/>
              </a:rPr>
              <a:t>your Past Tips:</a:t>
            </a:r>
            <a:r>
              <a:rPr lang="en-IN" dirty="0">
                <a:latin typeface="Times New Roman" panose="02020603050405020304" pitchFamily="18" charset="0"/>
                <a:cs typeface="Times New Roman" panose="02020603050405020304" pitchFamily="18" charset="0"/>
              </a:rPr>
              <a:t> Using this module user can view all submitted tip </a:t>
            </a:r>
            <a:r>
              <a:rPr lang="en-IN" dirty="0" smtClean="0">
                <a:latin typeface="Times New Roman" panose="02020603050405020304" pitchFamily="18" charset="0"/>
                <a:cs typeface="Times New Roman" panose="02020603050405020304" pitchFamily="18" charset="0"/>
              </a:rPr>
              <a:t>reports.</a:t>
            </a:r>
          </a:p>
          <a:p>
            <a:pPr lvl="0">
              <a:lnSpc>
                <a:spcPct val="100000"/>
              </a:lnSpc>
            </a:pPr>
            <a:endParaRPr lang="en-IN" dirty="0" smtClean="0">
              <a:latin typeface="Times New Roman" panose="02020603050405020304" pitchFamily="18" charset="0"/>
              <a:cs typeface="Times New Roman" panose="02020603050405020304" pitchFamily="18" charset="0"/>
            </a:endParaRPr>
          </a:p>
          <a:p>
            <a:pPr marL="342900" lvl="0" indent="-342900">
              <a:lnSpc>
                <a:spcPct val="100000"/>
              </a:lnSpc>
              <a:buFont typeface="Wingdings" panose="05000000000000000000" pitchFamily="2" charset="2"/>
              <a:buChar char="Ø"/>
            </a:pPr>
            <a:r>
              <a:rPr lang="en-IN" b="1" dirty="0" smtClean="0">
                <a:latin typeface="Times New Roman" panose="02020603050405020304" pitchFamily="18" charset="0"/>
                <a:cs typeface="Times New Roman" panose="02020603050405020304" pitchFamily="18" charset="0"/>
              </a:rPr>
              <a:t>Authority </a:t>
            </a:r>
            <a:r>
              <a:rPr lang="en-IN" b="1" dirty="0">
                <a:latin typeface="Times New Roman" panose="02020603050405020304" pitchFamily="18" charset="0"/>
                <a:cs typeface="Times New Roman" panose="02020603050405020304" pitchFamily="18" charset="0"/>
              </a:rPr>
              <a:t>Login:</a:t>
            </a:r>
            <a:r>
              <a:rPr lang="en-IN" dirty="0">
                <a:latin typeface="Times New Roman" panose="02020603050405020304" pitchFamily="18" charset="0"/>
                <a:cs typeface="Times New Roman" panose="02020603050405020304" pitchFamily="18" charset="0"/>
              </a:rPr>
              <a:t> Authority can login to system using username and password as ‘admin’. After login authority can perform following </a:t>
            </a:r>
            <a:r>
              <a:rPr lang="en-IN" dirty="0" smtClean="0">
                <a:latin typeface="Times New Roman" panose="02020603050405020304" pitchFamily="18" charset="0"/>
                <a:cs typeface="Times New Roman" panose="02020603050405020304" pitchFamily="18" charset="0"/>
              </a:rPr>
              <a:t>options.</a:t>
            </a:r>
          </a:p>
          <a:p>
            <a:pPr lvl="0">
              <a:lnSpc>
                <a:spcPct val="100000"/>
              </a:lnSpc>
            </a:pPr>
            <a:endParaRPr lang="en-IN" dirty="0" smtClean="0">
              <a:latin typeface="Times New Roman" panose="02020603050405020304" pitchFamily="18" charset="0"/>
              <a:cs typeface="Times New Roman" panose="02020603050405020304" pitchFamily="18" charset="0"/>
            </a:endParaRPr>
          </a:p>
          <a:p>
            <a:pPr marL="342900" lvl="0" indent="-342900">
              <a:lnSpc>
                <a:spcPct val="100000"/>
              </a:lnSpc>
              <a:buFont typeface="Wingdings" panose="05000000000000000000" pitchFamily="2" charset="2"/>
              <a:buChar char="Ø"/>
            </a:pPr>
            <a:r>
              <a:rPr lang="en-IN" b="1" dirty="0" smtClean="0">
                <a:latin typeface="Times New Roman" panose="02020603050405020304" pitchFamily="18" charset="0"/>
                <a:cs typeface="Times New Roman" panose="02020603050405020304" pitchFamily="18" charset="0"/>
              </a:rPr>
              <a:t>Train </a:t>
            </a:r>
            <a:r>
              <a:rPr lang="en-IN" b="1" dirty="0">
                <a:latin typeface="Times New Roman" panose="02020603050405020304" pitchFamily="18" charset="0"/>
                <a:cs typeface="Times New Roman" panose="02020603050405020304" pitchFamily="18" charset="0"/>
              </a:rPr>
              <a:t>ML: </a:t>
            </a:r>
            <a:r>
              <a:rPr lang="en-IN" dirty="0">
                <a:latin typeface="Times New Roman" panose="02020603050405020304" pitchFamily="18" charset="0"/>
                <a:cs typeface="Times New Roman" panose="02020603050405020304" pitchFamily="18" charset="0"/>
              </a:rPr>
              <a:t>Using this module authority can train ML to predict weather submitted tip is false or </a:t>
            </a:r>
            <a:r>
              <a:rPr lang="en-IN" dirty="0" smtClean="0">
                <a:latin typeface="Times New Roman" panose="02020603050405020304" pitchFamily="18" charset="0"/>
                <a:cs typeface="Times New Roman" panose="02020603050405020304" pitchFamily="18" charset="0"/>
              </a:rPr>
              <a:t>true.</a:t>
            </a:r>
          </a:p>
          <a:p>
            <a:pPr lvl="0">
              <a:lnSpc>
                <a:spcPct val="100000"/>
              </a:lnSpc>
            </a:pPr>
            <a:endParaRPr lang="en-IN" dirty="0" smtClean="0">
              <a:latin typeface="Times New Roman" panose="02020603050405020304" pitchFamily="18" charset="0"/>
              <a:cs typeface="Times New Roman" panose="02020603050405020304" pitchFamily="18" charset="0"/>
            </a:endParaRPr>
          </a:p>
          <a:p>
            <a:pPr marL="342900" lvl="0" indent="-342900">
              <a:lnSpc>
                <a:spcPct val="100000"/>
              </a:lnSpc>
              <a:buFont typeface="Wingdings" panose="05000000000000000000" pitchFamily="2" charset="2"/>
              <a:buChar char="Ø"/>
            </a:pPr>
            <a:r>
              <a:rPr lang="en-IN" b="1" dirty="0" smtClean="0">
                <a:latin typeface="Times New Roman" panose="02020603050405020304" pitchFamily="18" charset="0"/>
                <a:cs typeface="Times New Roman" panose="02020603050405020304" pitchFamily="18" charset="0"/>
              </a:rPr>
              <a:t>View </a:t>
            </a:r>
            <a:r>
              <a:rPr lang="en-IN" b="1" dirty="0">
                <a:latin typeface="Times New Roman" panose="02020603050405020304" pitchFamily="18" charset="0"/>
                <a:cs typeface="Times New Roman" panose="02020603050405020304" pitchFamily="18" charset="0"/>
              </a:rPr>
              <a:t>Submitted Tips Report: </a:t>
            </a:r>
            <a:r>
              <a:rPr lang="en-IN" dirty="0">
                <a:latin typeface="Times New Roman" panose="02020603050405020304" pitchFamily="18" charset="0"/>
                <a:cs typeface="Times New Roman" panose="02020603050405020304" pitchFamily="18" charset="0"/>
              </a:rPr>
              <a:t>Using this module authority can view all submitted tips and machine learning predicted top status as true or </a:t>
            </a:r>
            <a:r>
              <a:rPr lang="en-IN" dirty="0" smtClean="0">
                <a:latin typeface="Times New Roman" panose="02020603050405020304" pitchFamily="18" charset="0"/>
                <a:cs typeface="Times New Roman" panose="02020603050405020304" pitchFamily="18" charset="0"/>
              </a:rPr>
              <a:t>false.</a:t>
            </a:r>
          </a:p>
          <a:p>
            <a:pPr lvl="0">
              <a:lnSpc>
                <a:spcPct val="100000"/>
              </a:lnSpc>
            </a:pPr>
            <a:endParaRPr lang="en-IN" dirty="0" smtClean="0">
              <a:latin typeface="Times New Roman" panose="02020603050405020304" pitchFamily="18" charset="0"/>
              <a:cs typeface="Times New Roman" panose="02020603050405020304" pitchFamily="18" charset="0"/>
            </a:endParaRPr>
          </a:p>
          <a:p>
            <a:pPr marL="342900" lvl="0" indent="-342900">
              <a:lnSpc>
                <a:spcPct val="100000"/>
              </a:lnSpc>
              <a:buFont typeface="Wingdings" panose="05000000000000000000" pitchFamily="2" charset="2"/>
              <a:buChar char="Ø"/>
            </a:pPr>
            <a:r>
              <a:rPr lang="en-IN" b="1" dirty="0" smtClean="0">
                <a:latin typeface="Times New Roman" panose="02020603050405020304" pitchFamily="18" charset="0"/>
                <a:cs typeface="Times New Roman" panose="02020603050405020304" pitchFamily="18" charset="0"/>
              </a:rPr>
              <a:t>View </a:t>
            </a:r>
            <a:r>
              <a:rPr lang="en-IN" b="1" dirty="0">
                <a:latin typeface="Times New Roman" panose="02020603050405020304" pitchFamily="18" charset="0"/>
                <a:cs typeface="Times New Roman" panose="02020603050405020304" pitchFamily="18" charset="0"/>
              </a:rPr>
              <a:t>User Lists: </a:t>
            </a:r>
            <a:r>
              <a:rPr lang="en-IN" dirty="0">
                <a:latin typeface="Times New Roman" panose="02020603050405020304" pitchFamily="18" charset="0"/>
                <a:cs typeface="Times New Roman" panose="02020603050405020304" pitchFamily="18" charset="0"/>
              </a:rPr>
              <a:t>Using this module authority can view all registered user details but all username will be anonymised for security reason.</a:t>
            </a:r>
            <a:endParaRPr lang="en-IN"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9420630"/>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CBE6B2-16EC-3D61-9F4B-6D06F1D61B24}"/>
              </a:ext>
            </a:extLst>
          </p:cNvPr>
          <p:cNvSpPr>
            <a:spLocks noGrp="1"/>
          </p:cNvSpPr>
          <p:nvPr>
            <p:ph type="title"/>
          </p:nvPr>
        </p:nvSpPr>
        <p:spPr>
          <a:xfrm>
            <a:off x="955964" y="365126"/>
            <a:ext cx="10066712" cy="981536"/>
          </a:xfrm>
        </p:spPr>
        <p:txBody>
          <a:bodyPr>
            <a:noAutofit/>
          </a:bodyPr>
          <a:lstStyle/>
          <a:p>
            <a:pPr algn="ctr"/>
            <a:r>
              <a:rPr lang="en-US" sz="6000" b="1" dirty="0" smtClean="0">
                <a:latin typeface="Times New Roman" panose="02020603050405020304" pitchFamily="18" charset="0"/>
                <a:cs typeface="Times New Roman" panose="02020603050405020304" pitchFamily="18" charset="0"/>
              </a:rPr>
              <a:t>EXPECTED RESULTS</a:t>
            </a:r>
            <a:endParaRPr lang="en-IN" sz="60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xmlns="" id="{6A6B4069-FBDD-F843-CCFD-1A7C160C70A6}"/>
              </a:ext>
            </a:extLst>
          </p:cNvPr>
          <p:cNvSpPr>
            <a:spLocks noGrp="1"/>
          </p:cNvSpPr>
          <p:nvPr>
            <p:ph type="sldNum" sz="quarter" idx="12"/>
          </p:nvPr>
        </p:nvSpPr>
        <p:spPr/>
        <p:txBody>
          <a:bodyPr/>
          <a:lstStyle/>
          <a:p>
            <a:fld id="{249020A1-FA28-4834-83A8-C0CE35CB1668}" type="slidenum">
              <a:rPr lang="en-IN" smtClean="0"/>
              <a:pPr/>
              <a:t>17</a:t>
            </a:fld>
            <a:endParaRPr lang="en-IN"/>
          </a:p>
        </p:txBody>
      </p:sp>
      <p:sp>
        <p:nvSpPr>
          <p:cNvPr id="5" name="TextBox 4">
            <a:extLst>
              <a:ext uri="{FF2B5EF4-FFF2-40B4-BE49-F238E27FC236}">
                <a16:creationId xmlns:a16="http://schemas.microsoft.com/office/drawing/2014/main" xmlns="" id="{4DAEFA99-FB1B-D7EC-F332-EC09963E896B}"/>
              </a:ext>
            </a:extLst>
          </p:cNvPr>
          <p:cNvSpPr txBox="1"/>
          <p:nvPr/>
        </p:nvSpPr>
        <p:spPr>
          <a:xfrm>
            <a:off x="955964" y="1677475"/>
            <a:ext cx="10066712" cy="4247317"/>
          </a:xfrm>
          <a:prstGeom prst="rect">
            <a:avLst/>
          </a:prstGeom>
          <a:noFill/>
        </p:spPr>
        <p:txBody>
          <a:bodyPr wrap="square">
            <a:spAutoFit/>
          </a:bodyPr>
          <a:lstStyle/>
          <a:p>
            <a:pPr marL="285750" indent="-285750">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People </a:t>
            </a:r>
            <a:r>
              <a:rPr lang="en-US" dirty="0">
                <a:latin typeface="Times New Roman" panose="02020603050405020304" pitchFamily="18" charset="0"/>
                <a:cs typeface="Times New Roman" panose="02020603050405020304" pitchFamily="18" charset="0"/>
              </a:rPr>
              <a:t>can report crimes without revealing their identity, which encourages more people to come forward without </a:t>
            </a:r>
            <a:r>
              <a:rPr lang="en-US" dirty="0" smtClean="0">
                <a:latin typeface="Times New Roman" panose="02020603050405020304" pitchFamily="18" charset="0"/>
                <a:cs typeface="Times New Roman" panose="02020603050405020304" pitchFamily="18" charset="0"/>
              </a:rPr>
              <a:t>fear.</a:t>
            </a: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Tips </a:t>
            </a:r>
            <a:r>
              <a:rPr lang="en-US" dirty="0">
                <a:latin typeface="Times New Roman" panose="02020603050405020304" pitchFamily="18" charset="0"/>
                <a:cs typeface="Times New Roman" panose="02020603050405020304" pitchFamily="18" charset="0"/>
              </a:rPr>
              <a:t>reach the authorities quickly, helping them respond to suspicious activities in real time or before crimes </a:t>
            </a:r>
            <a:r>
              <a:rPr lang="en-US" dirty="0" smtClean="0">
                <a:latin typeface="Times New Roman" panose="02020603050405020304" pitchFamily="18" charset="0"/>
                <a:cs typeface="Times New Roman" panose="02020603050405020304" pitchFamily="18" charset="0"/>
              </a:rPr>
              <a:t>happen.</a:t>
            </a: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Reports</a:t>
            </a:r>
            <a:r>
              <a:rPr lang="en-US" dirty="0">
                <a:latin typeface="Times New Roman" panose="02020603050405020304" pitchFamily="18" charset="0"/>
                <a:cs typeface="Times New Roman" panose="02020603050405020304" pitchFamily="18" charset="0"/>
              </a:rPr>
              <a:t>, images, and videos are stored securely, so they can’t be changed, deleted, or accessed by the wrong </a:t>
            </a:r>
            <a:r>
              <a:rPr lang="en-US" dirty="0" smtClean="0">
                <a:latin typeface="Times New Roman" panose="02020603050405020304" pitchFamily="18" charset="0"/>
                <a:cs typeface="Times New Roman" panose="02020603050405020304" pitchFamily="18" charset="0"/>
              </a:rPr>
              <a:t>people.</a:t>
            </a: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system helps sort and prioritize reports automatically, saving time for the authorities and allowing them to focus on urgent </a:t>
            </a:r>
            <a:r>
              <a:rPr lang="en-US" dirty="0" smtClean="0">
                <a:latin typeface="Times New Roman" panose="02020603050405020304" pitchFamily="18" charset="0"/>
                <a:cs typeface="Times New Roman" panose="02020603050405020304" pitchFamily="18" charset="0"/>
              </a:rPr>
              <a:t>cases.</a:t>
            </a: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Reporters </a:t>
            </a:r>
            <a:r>
              <a:rPr lang="en-US" dirty="0">
                <a:latin typeface="Times New Roman" panose="02020603050405020304" pitchFamily="18" charset="0"/>
                <a:cs typeface="Times New Roman" panose="02020603050405020304" pitchFamily="18" charset="0"/>
              </a:rPr>
              <a:t>can upload photos and videos as proof, making investigations more effective and </a:t>
            </a:r>
            <a:r>
              <a:rPr lang="en-US" dirty="0" smtClean="0">
                <a:latin typeface="Times New Roman" panose="02020603050405020304" pitchFamily="18" charset="0"/>
                <a:cs typeface="Times New Roman" panose="02020603050405020304" pitchFamily="18" charset="0"/>
              </a:rPr>
              <a:t>accurate.</a:t>
            </a:r>
          </a:p>
          <a:p>
            <a:pPr marL="285750" indent="-285750">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All </a:t>
            </a:r>
            <a:r>
              <a:rPr lang="en-US" dirty="0">
                <a:latin typeface="Times New Roman" panose="02020603050405020304" pitchFamily="18" charset="0"/>
                <a:cs typeface="Times New Roman" panose="02020603050405020304" pitchFamily="18" charset="0"/>
              </a:rPr>
              <a:t>information is safely recorded so it can be trusted in future investigations or legal cases.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0009927"/>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8AEE329-3059-AD3A-110C-21255DB26FB8}"/>
              </a:ext>
            </a:extLst>
          </p:cNvPr>
          <p:cNvSpPr>
            <a:spLocks noGrp="1"/>
          </p:cNvSpPr>
          <p:nvPr>
            <p:ph type="title"/>
          </p:nvPr>
        </p:nvSpPr>
        <p:spPr>
          <a:xfrm>
            <a:off x="1097282" y="365126"/>
            <a:ext cx="9842268" cy="1089602"/>
          </a:xfrm>
        </p:spPr>
        <p:txBody>
          <a:bodyPr>
            <a:normAutofit/>
          </a:bodyPr>
          <a:lstStyle/>
          <a:p>
            <a:pPr algn="ctr"/>
            <a:r>
              <a:rPr lang="en-IN" sz="6000" b="1" dirty="0" smtClean="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xmlns="" id="{5AC0926A-D80E-2E64-A26B-B1CFFE530CA6}"/>
              </a:ext>
            </a:extLst>
          </p:cNvPr>
          <p:cNvSpPr>
            <a:spLocks noGrp="1"/>
          </p:cNvSpPr>
          <p:nvPr>
            <p:ph type="sldNum" sz="quarter" idx="12"/>
          </p:nvPr>
        </p:nvSpPr>
        <p:spPr/>
        <p:txBody>
          <a:bodyPr/>
          <a:lstStyle/>
          <a:p>
            <a:fld id="{249020A1-FA28-4834-83A8-C0CE35CB1668}" type="slidenum">
              <a:rPr lang="en-IN" smtClean="0"/>
              <a:pPr/>
              <a:t>18</a:t>
            </a:fld>
            <a:endParaRPr lang="en-IN"/>
          </a:p>
        </p:txBody>
      </p:sp>
      <p:sp>
        <p:nvSpPr>
          <p:cNvPr id="7" name="TextBox 6">
            <a:extLst>
              <a:ext uri="{FF2B5EF4-FFF2-40B4-BE49-F238E27FC236}">
                <a16:creationId xmlns:a16="http://schemas.microsoft.com/office/drawing/2014/main" xmlns="" id="{16403FB3-FC1E-7800-C2DA-1ABD9CC90074}"/>
              </a:ext>
            </a:extLst>
          </p:cNvPr>
          <p:cNvSpPr txBox="1"/>
          <p:nvPr/>
        </p:nvSpPr>
        <p:spPr>
          <a:xfrm>
            <a:off x="1097281" y="1903444"/>
            <a:ext cx="9842268" cy="4247317"/>
          </a:xfrm>
          <a:prstGeom prst="rect">
            <a:avLst/>
          </a:prstGeom>
          <a:noFill/>
        </p:spPr>
        <p:txBody>
          <a:bodyPr wrap="square">
            <a:spAutoFit/>
          </a:bodyPr>
          <a:lstStyle/>
          <a:p>
            <a:pPr marL="285750" indent="-285750">
              <a:lnSpc>
                <a:spcPct val="1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project provides a robust platform that allows witnesses to report suspicious activities anonymously, ensuring their safety while enhancing collaboration with law </a:t>
            </a:r>
            <a:r>
              <a:rPr lang="en-US" dirty="0" smtClean="0">
                <a:latin typeface="Times New Roman" panose="02020603050405020304" pitchFamily="18" charset="0"/>
                <a:cs typeface="Times New Roman" panose="02020603050405020304" pitchFamily="18" charset="0"/>
              </a:rPr>
              <a:t>enforcement.</a:t>
            </a:r>
          </a:p>
          <a:p>
            <a:pPr marL="285750" indent="-285750">
              <a:lnSpc>
                <a:spcPct val="10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By </a:t>
            </a:r>
            <a:r>
              <a:rPr lang="en-US" dirty="0">
                <a:latin typeface="Times New Roman" panose="02020603050405020304" pitchFamily="18" charset="0"/>
                <a:cs typeface="Times New Roman" panose="02020603050405020304" pitchFamily="18" charset="0"/>
              </a:rPr>
              <a:t>leveraging </a:t>
            </a:r>
            <a:r>
              <a:rPr lang="en-US" dirty="0" err="1">
                <a:latin typeface="Times New Roman" panose="02020603050405020304" pitchFamily="18" charset="0"/>
                <a:cs typeface="Times New Roman" panose="02020603050405020304" pitchFamily="18" charset="0"/>
              </a:rPr>
              <a:t>Ethereum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blockchain</a:t>
            </a:r>
            <a:r>
              <a:rPr lang="en-US" dirty="0">
                <a:latin typeface="Times New Roman" panose="02020603050405020304" pitchFamily="18" charset="0"/>
                <a:cs typeface="Times New Roman" panose="02020603050405020304" pitchFamily="18" charset="0"/>
              </a:rPr>
              <a:t>, the system ensures that crime reports remain immutable and tamper-proof, fostering trust between users and </a:t>
            </a:r>
            <a:r>
              <a:rPr lang="en-US" dirty="0" smtClean="0">
                <a:latin typeface="Times New Roman" panose="02020603050405020304" pitchFamily="18" charset="0"/>
                <a:cs typeface="Times New Roman" panose="02020603050405020304" pitchFamily="18" charset="0"/>
              </a:rPr>
              <a:t>authorities.</a:t>
            </a:r>
          </a:p>
          <a:p>
            <a:pPr marL="285750" indent="-285750">
              <a:lnSpc>
                <a:spcPct val="10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TensorFlow</a:t>
            </a:r>
            <a:r>
              <a:rPr lang="en-US" dirty="0">
                <a:latin typeface="Times New Roman" panose="02020603050405020304" pitchFamily="18" charset="0"/>
                <a:cs typeface="Times New Roman" panose="02020603050405020304" pitchFamily="18" charset="0"/>
              </a:rPr>
              <a:t> CNN model improves the credibility of reported tips by analyzing and predicting their authenticity, helping authorities prioritize genuine cases </a:t>
            </a:r>
            <a:r>
              <a:rPr lang="en-US" dirty="0" smtClean="0">
                <a:latin typeface="Times New Roman" panose="02020603050405020304" pitchFamily="18" charset="0"/>
                <a:cs typeface="Times New Roman" panose="02020603050405020304" pitchFamily="18" charset="0"/>
              </a:rPr>
              <a:t>efficiently.</a:t>
            </a:r>
          </a:p>
          <a:p>
            <a:pPr marL="285750" indent="-285750">
              <a:lnSpc>
                <a:spcPct val="10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With </a:t>
            </a:r>
            <a:r>
              <a:rPr lang="en-US" dirty="0">
                <a:latin typeface="Times New Roman" panose="02020603050405020304" pitchFamily="18" charset="0"/>
                <a:cs typeface="Times New Roman" panose="02020603050405020304" pitchFamily="18" charset="0"/>
              </a:rPr>
              <a:t>IPFS for decentralized multimedia storage, the system securely handles evidence, preserving crucial information for </a:t>
            </a:r>
            <a:r>
              <a:rPr lang="en-US" dirty="0" smtClean="0">
                <a:latin typeface="Times New Roman" panose="02020603050405020304" pitchFamily="18" charset="0"/>
                <a:cs typeface="Times New Roman" panose="02020603050405020304" pitchFamily="18" charset="0"/>
              </a:rPr>
              <a:t>investigations.</a:t>
            </a:r>
          </a:p>
          <a:p>
            <a:pPr marL="285750" indent="-285750">
              <a:lnSpc>
                <a:spcPct val="10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By </a:t>
            </a:r>
            <a:r>
              <a:rPr lang="en-US" dirty="0">
                <a:latin typeface="Times New Roman" panose="02020603050405020304" pitchFamily="18" charset="0"/>
                <a:cs typeface="Times New Roman" panose="02020603050405020304" pitchFamily="18" charset="0"/>
              </a:rPr>
              <a:t>integrating encryption, </a:t>
            </a:r>
            <a:r>
              <a:rPr lang="en-US" dirty="0" err="1">
                <a:latin typeface="Times New Roman" panose="02020603050405020304" pitchFamily="18" charset="0"/>
                <a:cs typeface="Times New Roman" panose="02020603050405020304" pitchFamily="18" charset="0"/>
              </a:rPr>
              <a:t>blockchain</a:t>
            </a:r>
            <a:r>
              <a:rPr lang="en-US" dirty="0">
                <a:latin typeface="Times New Roman" panose="02020603050405020304" pitchFamily="18" charset="0"/>
                <a:cs typeface="Times New Roman" panose="02020603050405020304" pitchFamily="18" charset="0"/>
              </a:rPr>
              <a:t>, machine learning, Ganache, and </a:t>
            </a:r>
            <a:r>
              <a:rPr lang="en-US" dirty="0" err="1">
                <a:latin typeface="Times New Roman" panose="02020603050405020304" pitchFamily="18" charset="0"/>
                <a:cs typeface="Times New Roman" panose="02020603050405020304" pitchFamily="18" charset="0"/>
              </a:rPr>
              <a:t>MetaMask</a:t>
            </a:r>
            <a:r>
              <a:rPr lang="en-US" dirty="0">
                <a:latin typeface="Times New Roman" panose="02020603050405020304" pitchFamily="18" charset="0"/>
                <a:cs typeface="Times New Roman" panose="02020603050405020304" pitchFamily="18" charset="0"/>
              </a:rPr>
              <a:t>, the system enhances the security, efficiency, and accuracy of crime reporting, contributing to faster responses from authorities and ultimately safer communities.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2640569"/>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9D6F5D4-F4DE-BA51-140E-3F07DF02BBD6}"/>
              </a:ext>
            </a:extLst>
          </p:cNvPr>
          <p:cNvSpPr>
            <a:spLocks noGrp="1"/>
          </p:cNvSpPr>
          <p:nvPr>
            <p:ph type="title"/>
          </p:nvPr>
        </p:nvSpPr>
        <p:spPr>
          <a:xfrm>
            <a:off x="1080655" y="365126"/>
            <a:ext cx="9551324" cy="973224"/>
          </a:xfrm>
        </p:spPr>
        <p:txBody>
          <a:bodyPr>
            <a:noAutofit/>
          </a:bodyPr>
          <a:lstStyle/>
          <a:p>
            <a:pPr algn="ctr"/>
            <a:r>
              <a:rPr lang="en-IN" sz="6000" b="1" dirty="0" smtClean="0">
                <a:latin typeface="Times New Roman" panose="02020603050405020304" pitchFamily="18" charset="0"/>
                <a:cs typeface="Times New Roman" panose="02020603050405020304" pitchFamily="18" charset="0"/>
              </a:rPr>
              <a:t>REFERENCES</a:t>
            </a:r>
            <a:endParaRPr lang="en-IN" sz="6000"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xmlns="" id="{A3894726-5BAC-6621-FF63-CD2805727424}"/>
              </a:ext>
            </a:extLst>
          </p:cNvPr>
          <p:cNvSpPr>
            <a:spLocks noGrp="1"/>
          </p:cNvSpPr>
          <p:nvPr>
            <p:ph type="sldNum" sz="quarter" idx="12"/>
          </p:nvPr>
        </p:nvSpPr>
        <p:spPr/>
        <p:txBody>
          <a:bodyPr/>
          <a:lstStyle/>
          <a:p>
            <a:fld id="{249020A1-FA28-4834-83A8-C0CE35CB1668}" type="slidenum">
              <a:rPr lang="en-IN" smtClean="0"/>
              <a:pPr/>
              <a:t>19</a:t>
            </a:fld>
            <a:endParaRPr lang="en-IN"/>
          </a:p>
        </p:txBody>
      </p:sp>
      <p:sp>
        <p:nvSpPr>
          <p:cNvPr id="9" name="TextBox 8">
            <a:extLst>
              <a:ext uri="{FF2B5EF4-FFF2-40B4-BE49-F238E27FC236}">
                <a16:creationId xmlns:a16="http://schemas.microsoft.com/office/drawing/2014/main" xmlns="" id="{E7FF258E-37FF-ACDB-BAB6-850EFBCC98E3}"/>
              </a:ext>
            </a:extLst>
          </p:cNvPr>
          <p:cNvSpPr txBox="1"/>
          <p:nvPr/>
        </p:nvSpPr>
        <p:spPr>
          <a:xfrm>
            <a:off x="1191491" y="1812694"/>
            <a:ext cx="9550400" cy="3970318"/>
          </a:xfrm>
          <a:prstGeom prst="rect">
            <a:avLst/>
          </a:prstGeom>
          <a:noFill/>
        </p:spPr>
        <p:txBody>
          <a:bodyPr wrap="square">
            <a:spAutoFit/>
          </a:bodyPr>
          <a:lstStyle/>
          <a:p>
            <a:pPr marL="285750" indent="-285750">
              <a:lnSpc>
                <a:spcPct val="10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Burke Mark-John and </a:t>
            </a:r>
            <a:r>
              <a:rPr lang="en-US" dirty="0" err="1">
                <a:latin typeface="Times New Roman" panose="02020603050405020304" pitchFamily="18" charset="0"/>
                <a:cs typeface="Times New Roman" panose="02020603050405020304" pitchFamily="18" charset="0"/>
              </a:rPr>
              <a:t>Kayem</a:t>
            </a:r>
            <a:r>
              <a:rPr lang="en-US" dirty="0">
                <a:latin typeface="Times New Roman" panose="02020603050405020304" pitchFamily="18" charset="0"/>
                <a:cs typeface="Times New Roman" panose="02020603050405020304" pitchFamily="18" charset="0"/>
              </a:rPr>
              <a:t> Anne V.D.M., (2014) “K-Anonymity for Privacy Preserving Crime Data Publishing in Resource Constrained Environments”, May 13-16, 2014</a:t>
            </a:r>
            <a:r>
              <a:rPr lang="en-IN" dirty="0" smtClean="0">
                <a:latin typeface="Times New Roman" panose="02020603050405020304" pitchFamily="18" charset="0"/>
                <a:cs typeface="Times New Roman" panose="02020603050405020304" pitchFamily="18" charset="0"/>
              </a:rPr>
              <a:t>.</a:t>
            </a:r>
          </a:p>
          <a:p>
            <a:pPr marL="285750" indent="-285750">
              <a:lnSpc>
                <a:spcPct val="100000"/>
              </a:lnSpc>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Jensen</a:t>
            </a:r>
            <a:r>
              <a:rPr lang="en-US" dirty="0">
                <a:latin typeface="Times New Roman" panose="02020603050405020304" pitchFamily="18" charset="0"/>
                <a:cs typeface="Times New Roman" panose="02020603050405020304" pitchFamily="18" charset="0"/>
              </a:rPr>
              <a:t>, K. L., </a:t>
            </a:r>
            <a:r>
              <a:rPr lang="en-US" dirty="0" err="1">
                <a:latin typeface="Times New Roman" panose="02020603050405020304" pitchFamily="18" charset="0"/>
                <a:cs typeface="Times New Roman" panose="02020603050405020304" pitchFamily="18" charset="0"/>
              </a:rPr>
              <a:t>Iipito</a:t>
            </a:r>
            <a:r>
              <a:rPr lang="en-US" dirty="0">
                <a:latin typeface="Times New Roman" panose="02020603050405020304" pitchFamily="18" charset="0"/>
                <a:cs typeface="Times New Roman" panose="02020603050405020304" pitchFamily="18" charset="0"/>
              </a:rPr>
              <a:t>, H. N., </a:t>
            </a:r>
            <a:r>
              <a:rPr lang="en-US" dirty="0" err="1">
                <a:latin typeface="Times New Roman" panose="02020603050405020304" pitchFamily="18" charset="0"/>
                <a:cs typeface="Times New Roman" panose="02020603050405020304" pitchFamily="18" charset="0"/>
              </a:rPr>
              <a:t>Onwordi</a:t>
            </a:r>
            <a:r>
              <a:rPr lang="en-US" dirty="0">
                <a:latin typeface="Times New Roman" panose="02020603050405020304" pitchFamily="18" charset="0"/>
                <a:cs typeface="Times New Roman" panose="02020603050405020304" pitchFamily="18" charset="0"/>
              </a:rPr>
              <a:t>, M. U. and </a:t>
            </a:r>
            <a:r>
              <a:rPr lang="en-US" dirty="0" err="1">
                <a:latin typeface="Times New Roman" panose="02020603050405020304" pitchFamily="18" charset="0"/>
                <a:cs typeface="Times New Roman" panose="02020603050405020304" pitchFamily="18" charset="0"/>
              </a:rPr>
              <a:t>Mukumbira</a:t>
            </a:r>
            <a:r>
              <a:rPr lang="en-US" dirty="0">
                <a:latin typeface="Times New Roman" panose="02020603050405020304" pitchFamily="18" charset="0"/>
                <a:cs typeface="Times New Roman" panose="02020603050405020304" pitchFamily="18" charset="0"/>
              </a:rPr>
              <a:t>, S. “Toward an </a:t>
            </a:r>
            <a:r>
              <a:rPr lang="en-US" dirty="0" err="1">
                <a:latin typeface="Times New Roman" panose="02020603050405020304" pitchFamily="18" charset="0"/>
                <a:cs typeface="Times New Roman" panose="02020603050405020304" pitchFamily="18" charset="0"/>
              </a:rPr>
              <a:t>mPolicing</a:t>
            </a:r>
            <a:r>
              <a:rPr lang="en-US" dirty="0">
                <a:latin typeface="Times New Roman" panose="02020603050405020304" pitchFamily="18" charset="0"/>
                <a:cs typeface="Times New Roman" panose="02020603050405020304" pitchFamily="18" charset="0"/>
              </a:rPr>
              <a:t> solution for Namibia: leveraging emerging mobile platforms and crime mapping”, </a:t>
            </a:r>
            <a:r>
              <a:rPr lang="en-US" dirty="0" smtClean="0">
                <a:latin typeface="Times New Roman" panose="02020603050405020304" pitchFamily="18" charset="0"/>
                <a:cs typeface="Times New Roman" panose="02020603050405020304" pitchFamily="18" charset="0"/>
              </a:rPr>
              <a:t>2012.</a:t>
            </a:r>
          </a:p>
          <a:p>
            <a:pPr marL="285750" indent="-285750">
              <a:lnSpc>
                <a:spcPct val="10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pitchFamily="2" charset="2"/>
              <a:buChar char="Ø"/>
            </a:pPr>
            <a:r>
              <a:rPr lang="en-US" dirty="0" err="1" smtClean="0">
                <a:latin typeface="Times New Roman" panose="02020603050405020304" pitchFamily="18" charset="0"/>
                <a:cs typeface="Times New Roman" panose="02020603050405020304" pitchFamily="18" charset="0"/>
              </a:rPr>
              <a:t>Lasley</a:t>
            </a:r>
            <a:r>
              <a:rPr lang="en-US" dirty="0">
                <a:latin typeface="Times New Roman" panose="02020603050405020304" pitchFamily="18" charset="0"/>
                <a:cs typeface="Times New Roman" panose="02020603050405020304" pitchFamily="18" charset="0"/>
              </a:rPr>
              <a:t>, J.R. and </a:t>
            </a:r>
            <a:r>
              <a:rPr lang="en-US" dirty="0" err="1">
                <a:latin typeface="Times New Roman" panose="02020603050405020304" pitchFamily="18" charset="0"/>
                <a:cs typeface="Times New Roman" panose="02020603050405020304" pitchFamily="18" charset="0"/>
              </a:rPr>
              <a:t>Palombo</a:t>
            </a:r>
            <a:r>
              <a:rPr lang="en-US" dirty="0">
                <a:latin typeface="Times New Roman" panose="02020603050405020304" pitchFamily="18" charset="0"/>
                <a:cs typeface="Times New Roman" panose="02020603050405020304" pitchFamily="18" charset="0"/>
              </a:rPr>
              <a:t>, B.J. “When crime reporting goes high-tech: An experimental test of computerized citizen response to crime”, </a:t>
            </a:r>
            <a:r>
              <a:rPr lang="en-US" dirty="0" smtClean="0">
                <a:latin typeface="Times New Roman" panose="02020603050405020304" pitchFamily="18" charset="0"/>
                <a:cs typeface="Times New Roman" panose="02020603050405020304" pitchFamily="18" charset="0"/>
              </a:rPr>
              <a:t>1996.</a:t>
            </a:r>
          </a:p>
          <a:p>
            <a:pPr marL="285750" indent="-285750">
              <a:lnSpc>
                <a:spcPct val="10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Mahalakshmi</a:t>
            </a:r>
            <a:r>
              <a:rPr lang="en-US" dirty="0">
                <a:latin typeface="Times New Roman" panose="02020603050405020304" pitchFamily="18" charset="0"/>
                <a:cs typeface="Times New Roman" panose="02020603050405020304" pitchFamily="18" charset="0"/>
              </a:rPr>
              <a:t>, S. </a:t>
            </a:r>
            <a:r>
              <a:rPr lang="en-US" dirty="0" err="1">
                <a:latin typeface="Times New Roman" panose="02020603050405020304" pitchFamily="18" charset="0"/>
                <a:cs typeface="Times New Roman" panose="02020603050405020304" pitchFamily="18" charset="0"/>
              </a:rPr>
              <a:t>Thenmalar</a:t>
            </a:r>
            <a:r>
              <a:rPr lang="en-US" dirty="0">
                <a:latin typeface="Times New Roman" panose="02020603050405020304" pitchFamily="18" charset="0"/>
                <a:cs typeface="Times New Roman" panose="02020603050405020304" pitchFamily="18" charset="0"/>
              </a:rPr>
              <a:t>, "Feature Based Training for Crime Detection using Deep Learning Techniques“, </a:t>
            </a:r>
            <a:r>
              <a:rPr lang="en-US" dirty="0" smtClean="0">
                <a:latin typeface="Times New Roman" panose="02020603050405020304" pitchFamily="18" charset="0"/>
                <a:cs typeface="Times New Roman" panose="02020603050405020304" pitchFamily="18" charset="0"/>
              </a:rPr>
              <a:t>2023.</a:t>
            </a:r>
          </a:p>
          <a:p>
            <a:pPr marL="285750" indent="-285750">
              <a:lnSpc>
                <a:spcPct val="10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nSpc>
                <a:spcPct val="100000"/>
              </a:lnSpc>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Uma </a:t>
            </a:r>
            <a:r>
              <a:rPr lang="en-US" dirty="0">
                <a:latin typeface="Times New Roman" panose="02020603050405020304" pitchFamily="18" charset="0"/>
                <a:cs typeface="Times New Roman" panose="02020603050405020304" pitchFamily="18" charset="0"/>
              </a:rPr>
              <a:t>N, "Deep Convolutional Generative Adversarial Networks for Crime Scene Object Detection", 2023.</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3574414"/>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sld>
</file>

<file path=ppt/theme/theme1.xml><?xml version="1.0" encoding="utf-8"?>
<a:theme xmlns:a="http://schemas.openxmlformats.org/drawingml/2006/main" name="Office Theme">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1019</TotalTime>
  <Words>2188</Words>
  <Application>Microsoft Office PowerPoint</Application>
  <PresentationFormat>Widescreen</PresentationFormat>
  <Paragraphs>238</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Garamond</vt:lpstr>
      <vt:lpstr>Times New Roman</vt:lpstr>
      <vt:lpstr>Wingdings</vt:lpstr>
      <vt:lpstr>Office Theme</vt:lpstr>
      <vt:lpstr>EAST POINT COLLEGE OF ENGINEERING &amp; TECHNOLOGY</vt:lpstr>
      <vt:lpstr>Presentation Outline</vt:lpstr>
      <vt:lpstr>ABSTRACT</vt:lpstr>
      <vt:lpstr>OBJECTIVES</vt:lpstr>
      <vt:lpstr>                   INTRODUCTION </vt:lpstr>
      <vt:lpstr>PROBLEM STATEMENT</vt:lpstr>
      <vt:lpstr>EXISTING SYSTEM</vt:lpstr>
      <vt:lpstr>   PROPOSED SYSTEM</vt:lpstr>
      <vt:lpstr>LITERATURE SURVEY</vt:lpstr>
      <vt:lpstr>LITERATURE SURVEY</vt:lpstr>
      <vt:lpstr>LITERATURE SURVEY</vt:lpstr>
      <vt:lpstr>LITERATURE SURVEY</vt:lpstr>
      <vt:lpstr>LITERATURE SURVEY</vt:lpstr>
      <vt:lpstr>PROJECT SCHEDULES/GANTT CHART</vt:lpstr>
      <vt:lpstr>REQUIREMENTS SPECIFICATION</vt:lpstr>
      <vt:lpstr>METHODOLOGY</vt:lpstr>
      <vt:lpstr>EXPECTED RESULTS</vt:lpstr>
      <vt:lpstr>CONCLUSION</vt:lpstr>
      <vt:lpstr>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SAI VIDYA INSTITUTE OF TECHNOLOGY</dc:title>
  <dc:creator>abhijith</dc:creator>
  <cp:lastModifiedBy>Microsoft account</cp:lastModifiedBy>
  <cp:revision>116</cp:revision>
  <dcterms:created xsi:type="dcterms:W3CDTF">2018-09-27T05:23:08Z</dcterms:created>
  <dcterms:modified xsi:type="dcterms:W3CDTF">2025-05-28T13:21:48Z</dcterms:modified>
</cp:coreProperties>
</file>